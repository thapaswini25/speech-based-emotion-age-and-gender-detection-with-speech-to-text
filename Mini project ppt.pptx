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handoutMasterIdLst>
    <p:handoutMasterId r:id="rId21"/>
  </p:handoutMasterIdLst>
  <p:sldIdLst>
    <p:sldId id="256" r:id="rId2"/>
    <p:sldId id="259" r:id="rId3"/>
    <p:sldId id="327" r:id="rId4"/>
    <p:sldId id="333" r:id="rId5"/>
    <p:sldId id="328" r:id="rId6"/>
    <p:sldId id="329" r:id="rId7"/>
    <p:sldId id="335" r:id="rId8"/>
    <p:sldId id="334" r:id="rId9"/>
    <p:sldId id="330" r:id="rId10"/>
    <p:sldId id="345" r:id="rId11"/>
    <p:sldId id="350" r:id="rId12"/>
    <p:sldId id="346" r:id="rId13"/>
    <p:sldId id="351" r:id="rId14"/>
    <p:sldId id="347" r:id="rId15"/>
    <p:sldId id="352" r:id="rId16"/>
    <p:sldId id="353" r:id="rId17"/>
    <p:sldId id="349" r:id="rId18"/>
    <p:sldId id="326"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p:cViewPr varScale="1">
        <p:scale>
          <a:sx n="82" d="100"/>
          <a:sy n="82" d="100"/>
        </p:scale>
        <p:origin x="150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4/1/2026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4/1/2026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4/1/2026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4/1/2026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4/1/2026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4/1/2026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4/1/2026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4/1/2026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4/1/2026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4/1/2026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4/1/2026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4/1/2026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4/1/2026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4/1/2026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33687"/>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&amp;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054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62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rPr>
              <a:t>Dr. U. </a:t>
            </a:r>
            <a:r>
              <a:rPr lang="en-US" sz="3000" b="1" dirty="0" err="1">
                <a:solidFill>
                  <a:srgbClr val="002060"/>
                </a:solidFill>
              </a:rPr>
              <a:t>Sesadri</a:t>
            </a:r>
            <a:endParaRPr lang="en-US" sz="3000" b="1" dirty="0">
              <a:solidFill>
                <a:srgbClr val="002060"/>
              </a:solidFill>
              <a:cs typeface="Calibri"/>
            </a:endParaRPr>
          </a:p>
          <a:p>
            <a:pPr algn="ctr" fontAlgn="auto">
              <a:spcBef>
                <a:spcPct val="20000"/>
              </a:spcBef>
              <a:spcAft>
                <a:spcPts val="0"/>
              </a:spcAft>
              <a:defRPr/>
            </a:pPr>
            <a:r>
              <a:rPr lang="en-US" sz="2200" b="1" dirty="0">
                <a:solidFill>
                  <a:srgbClr val="002060"/>
                </a:solidFill>
              </a:rPr>
              <a:t>Associate Professor</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defRPr/>
            </a:pPr>
            <a:r>
              <a:rPr lang="en-US" sz="2200" b="1" dirty="0" err="1">
                <a:solidFill>
                  <a:srgbClr val="002060"/>
                </a:solidFill>
              </a:rPr>
              <a:t>Vardhaman</a:t>
            </a:r>
            <a:r>
              <a:rPr lang="en-US" sz="2200" b="1" dirty="0">
                <a:solidFill>
                  <a:srgbClr val="002060"/>
                </a:solidFill>
              </a:rPr>
              <a:t> College of Engineering </a:t>
            </a:r>
          </a:p>
          <a:p>
            <a:pPr algn="ctr" fontAlgn="auto">
              <a:spcBef>
                <a:spcPct val="20000"/>
              </a:spcBef>
              <a:spcAft>
                <a:spcPts val="0"/>
              </a:spcAft>
              <a:defRPr/>
            </a:pPr>
            <a:endParaRPr lang="en-US" sz="2200" b="1" dirty="0">
              <a:solidFill>
                <a:srgbClr val="002060"/>
              </a:solidFill>
            </a:endParaRP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5932"/>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23MPCS-D5</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89709" y="1560874"/>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Autofit/>
          </a:bodyPr>
          <a:lstStyle/>
          <a:p>
            <a:pPr algn="ctr" fontAlgn="auto">
              <a:spcAft>
                <a:spcPts val="0"/>
              </a:spcAft>
              <a:defRPr/>
            </a:pPr>
            <a:r>
              <a:rPr lang="en-US" sz="2200" b="1" dirty="0">
                <a:solidFill>
                  <a:schemeClr val="tx1"/>
                </a:solidFill>
                <a:latin typeface="+mj-lt"/>
                <a:ea typeface="+mj-ea"/>
                <a:cs typeface="+mj-cs"/>
              </a:rPr>
              <a:t> Title: </a:t>
            </a:r>
            <a:r>
              <a:rPr lang="en-US" sz="2200" b="1" dirty="0">
                <a:solidFill>
                  <a:schemeClr val="tx1"/>
                </a:solidFill>
                <a:latin typeface="+mj-lt"/>
              </a:rPr>
              <a:t>Speech-Based Emotion , Age and Gender Detection with Speech-to-Text </a:t>
            </a:r>
            <a:endParaRPr lang="en-US" sz="2200" b="1" dirty="0">
              <a:solidFill>
                <a:schemeClr val="tx1"/>
              </a:solidFill>
              <a:latin typeface="+mj-lt"/>
              <a:ea typeface="+mj-ea"/>
              <a:cs typeface="+mj-cs"/>
            </a:endParaRP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134399192"/>
              </p:ext>
            </p:extLst>
          </p:nvPr>
        </p:nvGraphicFramePr>
        <p:xfrm>
          <a:off x="1219200" y="29718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                       V. Sai Prasaad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24885A0523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                 Roopa </a:t>
                      </a:r>
                      <a:r>
                        <a:rPr lang="en-US" sz="2000" b="1" dirty="0" err="1"/>
                        <a:t>Ramthapure</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24885A0525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              </a:t>
                      </a:r>
                      <a:r>
                        <a:rPr lang="en-IN" sz="2000" b="1" dirty="0" err="1"/>
                        <a:t>Dhudukala</a:t>
                      </a:r>
                      <a:r>
                        <a:rPr lang="en-IN" sz="2000" b="1" dirty="0"/>
                        <a:t> </a:t>
                      </a:r>
                      <a:r>
                        <a:rPr lang="en-IN" sz="2000" b="1" dirty="0" err="1"/>
                        <a:t>Thapaswini</a:t>
                      </a:r>
                      <a:r>
                        <a:rPr lang="en-IN" sz="2000" b="1" dirty="0"/>
                        <a:t> </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Review-2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Main idea of the Project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Process Model</a:t>
            </a:r>
            <a:endParaRPr lang="en-US" sz="1800" dirty="0">
              <a:ea typeface="+mn-lt"/>
              <a:cs typeface="+mn-lt"/>
            </a:endParaRPr>
          </a:p>
          <a:p>
            <a:pPr>
              <a:lnSpc>
                <a:spcPct val="110000"/>
              </a:lnSpc>
              <a:spcBef>
                <a:spcPts val="1200"/>
              </a:spcBef>
              <a:spcAft>
                <a:spcPts val="0"/>
              </a:spcAft>
              <a:defRPr/>
            </a:pPr>
            <a:r>
              <a:rPr lang="en-US" sz="1800" b="1" dirty="0">
                <a:ea typeface="+mn-lt"/>
                <a:cs typeface="+mn-lt"/>
              </a:rPr>
              <a:t>Design Phase</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Architectural Diagram [Modified]</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[UML Diagrams or Data Flow Diagrams] and ER-Diagrams ; It should be detailed diagrams</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Main idea of the Project</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r>
              <a:rPr lang="en-US" sz="1800" dirty="0"/>
              <a:t>The main idea of this project is to build an intelligent speech analysis system that can automatically identify human emotion, gender, and age group from speech signals and convert spoken audio into text form.</a:t>
            </a:r>
          </a:p>
          <a:p>
            <a:r>
              <a:rPr lang="en-US" sz="1800" dirty="0"/>
              <a:t>The system extracts various acoustic features from speech signals such as MFCC, chroma features, </a:t>
            </a:r>
            <a:r>
              <a:rPr lang="en-US" sz="1800" dirty="0" err="1"/>
              <a:t>mel</a:t>
            </a:r>
            <a:r>
              <a:rPr lang="en-US" sz="1800" dirty="0"/>
              <a:t> spectrogram, spectral contrast, pitch, and zero crossing rate. These features are used to train machine learning and deep learning models for accurate classification.</a:t>
            </a:r>
          </a:p>
          <a:p>
            <a:r>
              <a:rPr lang="en-US" sz="1800" dirty="0"/>
              <a:t>A CNN + </a:t>
            </a:r>
            <a:r>
              <a:rPr lang="en-US" sz="1800" dirty="0" err="1"/>
              <a:t>BiLSTM</a:t>
            </a:r>
            <a:r>
              <a:rPr lang="en-US" sz="1800" dirty="0"/>
              <a:t> deep learning model is used for emotion recognition, while </a:t>
            </a:r>
            <a:r>
              <a:rPr lang="en-US" sz="1800" dirty="0" err="1"/>
              <a:t>XGBoost</a:t>
            </a:r>
            <a:r>
              <a:rPr lang="en-US" sz="1800" dirty="0"/>
              <a:t> classifiers are used for gender and age prediction. Additionally, the system uses Google Speech Recognition API to convert speech into text.</a:t>
            </a:r>
          </a:p>
          <a:p>
            <a:r>
              <a:rPr lang="en-US" sz="1800" dirty="0"/>
              <a:t>The system can analyze any speech audio file and output:</a:t>
            </a:r>
          </a:p>
          <a:p>
            <a:pPr>
              <a:buFont typeface="Arial" panose="020B0604020202020204" pitchFamily="34" charset="0"/>
              <a:buChar char="•"/>
            </a:pPr>
            <a:r>
              <a:rPr lang="en-US" sz="1800" dirty="0"/>
              <a:t>Detected Emotion</a:t>
            </a:r>
          </a:p>
          <a:p>
            <a:pPr>
              <a:buFont typeface="Arial" panose="020B0604020202020204" pitchFamily="34" charset="0"/>
              <a:buChar char="•"/>
            </a:pPr>
            <a:r>
              <a:rPr lang="en-US" sz="1800" dirty="0"/>
              <a:t>Predicted Gender</a:t>
            </a:r>
          </a:p>
          <a:p>
            <a:pPr>
              <a:buFont typeface="Arial" panose="020B0604020202020204" pitchFamily="34" charset="0"/>
              <a:buChar char="•"/>
            </a:pPr>
            <a:r>
              <a:rPr lang="en-US" sz="1800" dirty="0"/>
              <a:t>Predicted Age Group</a:t>
            </a:r>
          </a:p>
          <a:p>
            <a:pPr>
              <a:buFont typeface="Arial" panose="020B0604020202020204" pitchFamily="34" charset="0"/>
              <a:buChar char="•"/>
            </a:pPr>
            <a:r>
              <a:rPr lang="en-US" sz="1800" dirty="0"/>
              <a:t>Converted Speech Text</a:t>
            </a:r>
          </a:p>
          <a:p>
            <a:pPr fontAlgn="auto">
              <a:spcAft>
                <a:spcPts val="0"/>
              </a:spcAft>
              <a:defRPr/>
            </a:pPr>
            <a:endParaRPr lang="en-US" sz="2800" dirty="0"/>
          </a:p>
          <a:p>
            <a:pPr fontAlgn="auto">
              <a:spcAft>
                <a:spcPts val="0"/>
              </a:spcAft>
              <a:buNone/>
              <a:defRPr/>
            </a:pPr>
            <a:endParaRPr lang="en-US" sz="2800" dirty="0">
              <a:cs typeface="Calibri"/>
            </a:endParaRP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1800" b="1" dirty="0"/>
              <a:t>Existing systems generally focus on only one task, such as</a:t>
            </a:r>
            <a:r>
              <a:rPr lang="en-US" sz="1800" dirty="0"/>
              <a:t>:</a:t>
            </a:r>
          </a:p>
          <a:p>
            <a:pPr>
              <a:buFont typeface="Arial" panose="020B0604020202020204" pitchFamily="34" charset="0"/>
              <a:buChar char="•"/>
            </a:pPr>
            <a:r>
              <a:rPr lang="en-US" sz="1800" dirty="0"/>
              <a:t>Speech-to-text conversion</a:t>
            </a:r>
          </a:p>
          <a:p>
            <a:pPr>
              <a:buFont typeface="Arial" panose="020B0604020202020204" pitchFamily="34" charset="0"/>
              <a:buChar char="•"/>
            </a:pPr>
            <a:r>
              <a:rPr lang="en-US" sz="1800" dirty="0"/>
              <a:t>Emotion detection</a:t>
            </a:r>
          </a:p>
          <a:p>
            <a:pPr>
              <a:buFont typeface="Arial" panose="020B0604020202020204" pitchFamily="34" charset="0"/>
              <a:buChar char="•"/>
            </a:pPr>
            <a:r>
              <a:rPr lang="en-US" sz="1800" dirty="0"/>
              <a:t>Speaker recognition</a:t>
            </a:r>
          </a:p>
          <a:p>
            <a:r>
              <a:rPr lang="en-US" sz="1800" dirty="0"/>
              <a:t>Limitations of existing systems:</a:t>
            </a:r>
          </a:p>
          <a:p>
            <a:pPr>
              <a:buFont typeface="Arial" panose="020B0604020202020204" pitchFamily="34" charset="0"/>
              <a:buChar char="•"/>
            </a:pPr>
            <a:r>
              <a:rPr lang="en-US" sz="1800" dirty="0"/>
              <a:t>Most systems detect only emotion</a:t>
            </a:r>
          </a:p>
          <a:p>
            <a:pPr>
              <a:buFont typeface="Arial" panose="020B0604020202020204" pitchFamily="34" charset="0"/>
              <a:buChar char="•"/>
            </a:pPr>
            <a:r>
              <a:rPr lang="en-US" sz="1800" dirty="0"/>
              <a:t>Some systems detect only gender</a:t>
            </a:r>
          </a:p>
          <a:p>
            <a:pPr>
              <a:buFont typeface="Arial" panose="020B0604020202020204" pitchFamily="34" charset="0"/>
              <a:buChar char="•"/>
            </a:pPr>
            <a:r>
              <a:rPr lang="en-US" sz="1800" dirty="0"/>
              <a:t>Age prediction is rarely included</a:t>
            </a:r>
          </a:p>
          <a:p>
            <a:pPr>
              <a:buFont typeface="Arial" panose="020B0604020202020204" pitchFamily="34" charset="0"/>
              <a:buChar char="•"/>
            </a:pPr>
            <a:r>
              <a:rPr lang="en-US" sz="1800" dirty="0"/>
              <a:t>Speech-to-text is usually implemented separately</a:t>
            </a:r>
          </a:p>
          <a:p>
            <a:pPr>
              <a:buFont typeface="Arial" panose="020B0604020202020204" pitchFamily="34" charset="0"/>
              <a:buChar char="•"/>
            </a:pPr>
            <a:r>
              <a:rPr lang="en-US" sz="1800" dirty="0"/>
              <a:t>Lack of multi-task integrated speech analysis</a:t>
            </a:r>
          </a:p>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MINI PROJECT REVIEW-4</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spcAft>
                <a:spcPts val="0"/>
              </a:spcAft>
              <a:defRPr/>
            </a:pPr>
            <a:endParaRPr lang="en-US" sz="2500" dirty="0"/>
          </a:p>
          <a:p>
            <a:pPr fontAlgn="auto">
              <a:spcAft>
                <a:spcPts val="0"/>
              </a:spcAft>
              <a:defRPr/>
            </a:pPr>
            <a:endParaRPr lang="en-US" sz="2500" dirty="0"/>
          </a:p>
          <a:p>
            <a:pPr fontAlgn="auto">
              <a:spcAft>
                <a:spcPts val="0"/>
              </a:spcAft>
              <a:defRPr/>
            </a:pPr>
            <a:endParaRPr lang="en-US" sz="2500" dirty="0"/>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5</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6" name="Rectangle 1">
            <a:extLst>
              <a:ext uri="{FF2B5EF4-FFF2-40B4-BE49-F238E27FC236}">
                <a16:creationId xmlns:a16="http://schemas.microsoft.com/office/drawing/2014/main" id="{30E246F2-5BFA-4210-B100-117C086AB725}"/>
              </a:ext>
            </a:extLst>
          </p:cNvPr>
          <p:cNvSpPr>
            <a:spLocks noChangeArrowheads="1"/>
          </p:cNvSpPr>
          <p:nvPr/>
        </p:nvSpPr>
        <p:spPr bwMode="auto">
          <a:xfrm>
            <a:off x="228600" y="1196437"/>
            <a:ext cx="87249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To develop a speech analysis system capable of detecting human emotions from voice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mn-lt"/>
              </a:rPr>
              <a:t>  </a:t>
            </a:r>
            <a:r>
              <a:rPr kumimoji="0" lang="en-US" altLang="en-US" b="0" i="0" u="none" strike="noStrike" cap="none" normalizeH="0" baseline="0" dirty="0">
                <a:ln>
                  <a:noFill/>
                </a:ln>
                <a:solidFill>
                  <a:schemeClr val="tx1"/>
                </a:solidFill>
                <a:effectLst/>
                <a:latin typeface="+mn-lt"/>
              </a:rPr>
              <a:t>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To classify the gender of a speaker using machine learning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To predict the age group of the speaker from speech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To convert speech audio into text using speech recognition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To integrate multiple speech analysis tasks into a single intelligent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n-lt"/>
              </a:rPr>
              <a:t>To improve accuracy using advanced deep learning and machine learning models.</a:t>
            </a:r>
          </a:p>
          <a:p>
            <a:pPr marL="285750" indent="-285750">
              <a:buFont typeface="Arial" panose="020B0604020202020204" pitchFamily="34" charset="0"/>
              <a:buChar char="•"/>
            </a:pPr>
            <a:r>
              <a:rPr lang="en-US" dirty="0">
                <a:latin typeface="+mn-lt"/>
              </a:rPr>
              <a:t>Develop a system to </a:t>
            </a:r>
            <a:r>
              <a:rPr lang="en-US" b="1" dirty="0">
                <a:latin typeface="+mn-lt"/>
              </a:rPr>
              <a:t>detect emotions from speech signals</a:t>
            </a:r>
            <a:r>
              <a:rPr lang="en-US" dirty="0">
                <a:latin typeface="+mn-lt"/>
              </a:rPr>
              <a:t> </a:t>
            </a:r>
          </a:p>
          <a:p>
            <a:pPr marL="285750" indent="-285750">
              <a:buFont typeface="Arial" panose="020B0604020202020204" pitchFamily="34" charset="0"/>
              <a:buChar char="•"/>
            </a:pPr>
            <a:r>
              <a:rPr lang="en-US" dirty="0">
                <a:latin typeface="+mn-lt"/>
              </a:rPr>
              <a:t>Identify </a:t>
            </a:r>
            <a:r>
              <a:rPr lang="en-US" b="1" dirty="0">
                <a:latin typeface="+mn-lt"/>
              </a:rPr>
              <a:t>age group and gender</a:t>
            </a:r>
            <a:r>
              <a:rPr lang="en-US" dirty="0">
                <a:latin typeface="+mn-lt"/>
              </a:rPr>
              <a:t> using voice characteristics </a:t>
            </a:r>
          </a:p>
          <a:p>
            <a:pPr marL="285750" indent="-285750">
              <a:buFont typeface="Arial" panose="020B0604020202020204" pitchFamily="34" charset="0"/>
              <a:buChar char="•"/>
            </a:pPr>
            <a:r>
              <a:rPr lang="en-US" dirty="0">
                <a:latin typeface="+mn-lt"/>
              </a:rPr>
              <a:t>Implement </a:t>
            </a:r>
            <a:r>
              <a:rPr lang="en-US" b="1" dirty="0">
                <a:latin typeface="+mn-lt"/>
              </a:rPr>
              <a:t>speech-to-text conversion</a:t>
            </a:r>
            <a:r>
              <a:rPr lang="en-US" dirty="0">
                <a:latin typeface="+mn-lt"/>
              </a:rPr>
              <a:t> for textual analysis </a:t>
            </a:r>
          </a:p>
          <a:p>
            <a:pPr marL="285750" indent="-285750">
              <a:buFont typeface="Arial" panose="020B0604020202020204" pitchFamily="34" charset="0"/>
              <a:buChar char="•"/>
            </a:pPr>
            <a:r>
              <a:rPr lang="en-US" dirty="0">
                <a:latin typeface="+mn-lt"/>
              </a:rPr>
              <a:t>Combine </a:t>
            </a:r>
            <a:r>
              <a:rPr lang="en-US" b="1" dirty="0">
                <a:latin typeface="+mn-lt"/>
              </a:rPr>
              <a:t>audio and text features</a:t>
            </a:r>
            <a:r>
              <a:rPr lang="en-US" dirty="0">
                <a:latin typeface="+mn-lt"/>
              </a:rPr>
              <a:t> for improved accuracy </a:t>
            </a:r>
          </a:p>
          <a:p>
            <a:pPr marL="285750" indent="-285750">
              <a:buFont typeface="Arial" panose="020B0604020202020204" pitchFamily="34" charset="0"/>
              <a:buChar char="•"/>
            </a:pPr>
            <a:r>
              <a:rPr lang="en-US" dirty="0">
                <a:latin typeface="+mn-lt"/>
              </a:rPr>
              <a:t>Use </a:t>
            </a:r>
            <a:r>
              <a:rPr lang="en-US" b="1" dirty="0">
                <a:latin typeface="+mn-lt"/>
              </a:rPr>
              <a:t>machine learning/deep learning models</a:t>
            </a:r>
            <a:r>
              <a:rPr lang="en-US" dirty="0">
                <a:latin typeface="+mn-lt"/>
              </a:rPr>
              <a:t> for classification </a:t>
            </a:r>
          </a:p>
          <a:p>
            <a:pPr marL="285750" indent="-285750">
              <a:buFont typeface="Arial" panose="020B0604020202020204" pitchFamily="34" charset="0"/>
              <a:buChar char="•"/>
            </a:pPr>
            <a:r>
              <a:rPr lang="en-US" dirty="0">
                <a:latin typeface="+mn-lt"/>
              </a:rPr>
              <a:t>Ensure </a:t>
            </a:r>
            <a:r>
              <a:rPr lang="en-US" b="1" dirty="0">
                <a:latin typeface="+mn-lt"/>
              </a:rPr>
              <a:t>real-time processing and prediction</a:t>
            </a:r>
            <a:r>
              <a:rPr lang="en-US" dirty="0">
                <a:latin typeface="+mn-lt"/>
              </a:rPr>
              <a:t> </a:t>
            </a:r>
          </a:p>
          <a:p>
            <a:pPr marL="285750" indent="-285750">
              <a:buFont typeface="Arial" panose="020B0604020202020204" pitchFamily="34" charset="0"/>
              <a:buChar char="•"/>
            </a:pPr>
            <a:r>
              <a:rPr lang="en-US" dirty="0">
                <a:latin typeface="+mn-lt"/>
              </a:rPr>
              <a:t>Design a </a:t>
            </a:r>
            <a:r>
              <a:rPr lang="en-US" b="1" dirty="0">
                <a:latin typeface="+mn-lt"/>
              </a:rPr>
              <a:t>user-friendly interface</a:t>
            </a:r>
            <a:r>
              <a:rPr lang="en-US" dirty="0">
                <a:latin typeface="+mn-lt"/>
              </a:rPr>
              <a:t> for easy interaction </a:t>
            </a:r>
          </a:p>
          <a:p>
            <a:pPr marL="285750" indent="-285750">
              <a:buFont typeface="Arial" panose="020B0604020202020204" pitchFamily="34" charset="0"/>
              <a:buChar char="•"/>
            </a:pPr>
            <a:r>
              <a:rPr lang="en-US" dirty="0">
                <a:latin typeface="+mn-lt"/>
              </a:rPr>
              <a:t>Improve system performance using </a:t>
            </a:r>
            <a:r>
              <a:rPr lang="en-US" b="1" dirty="0">
                <a:latin typeface="+mn-lt"/>
              </a:rPr>
              <a:t>feature extraction techniques (MFCC, pitch, etc.)</a:t>
            </a:r>
            <a:r>
              <a:rPr lang="en-US" dirty="0">
                <a:latin typeface="+mn-lt"/>
              </a:rPr>
              <a:t> </a:t>
            </a:r>
          </a:p>
          <a:p>
            <a:pPr marL="285750" indent="-285750">
              <a:buFont typeface="Arial" panose="020B0604020202020204" pitchFamily="34" charset="0"/>
              <a:buChar char="•"/>
            </a:pPr>
            <a:r>
              <a:rPr lang="en-US" dirty="0">
                <a:latin typeface="+mn-lt"/>
              </a:rPr>
              <a:t>Build a </a:t>
            </a:r>
            <a:r>
              <a:rPr lang="en-US" b="1" dirty="0">
                <a:latin typeface="+mn-lt"/>
              </a:rPr>
              <a:t>scalable and efficient model</a:t>
            </a:r>
            <a:r>
              <a:rPr lang="en-US" dirty="0">
                <a:latin typeface="+mn-lt"/>
              </a:rPr>
              <a:t> for practical applications </a:t>
            </a:r>
          </a:p>
          <a:p>
            <a:pPr marL="285750" indent="-285750">
              <a:buFont typeface="Arial" panose="020B0604020202020204" pitchFamily="34" charset="0"/>
              <a:buChar char="•"/>
            </a:pPr>
            <a:r>
              <a:rPr lang="en-US" dirty="0">
                <a:latin typeface="+mn-lt"/>
              </a:rPr>
              <a:t>Enhance </a:t>
            </a:r>
            <a:r>
              <a:rPr lang="en-US" b="1" dirty="0">
                <a:latin typeface="+mn-lt"/>
              </a:rPr>
              <a:t>human-computer interaction</a:t>
            </a:r>
            <a:r>
              <a:rPr lang="en-US" dirty="0">
                <a:latin typeface="+mn-lt"/>
              </a:rPr>
              <a:t> through intelligent speech analysis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n-lt"/>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US" sz="1800" b="1" dirty="0"/>
              <a:t>The developed system will be able to</a:t>
            </a:r>
            <a:r>
              <a:rPr lang="en-US" sz="1800" dirty="0"/>
              <a:t>:</a:t>
            </a:r>
          </a:p>
          <a:p>
            <a:pPr>
              <a:buFont typeface="Arial" panose="020B0604020202020204" pitchFamily="34" charset="0"/>
              <a:buChar char="•"/>
            </a:pPr>
            <a:r>
              <a:rPr lang="en-US" sz="1800" dirty="0"/>
              <a:t>Identify 8 emotional states from speech.</a:t>
            </a:r>
          </a:p>
          <a:p>
            <a:pPr>
              <a:buFont typeface="Arial" panose="020B0604020202020204" pitchFamily="34" charset="0"/>
              <a:buChar char="•"/>
            </a:pPr>
            <a:r>
              <a:rPr lang="en-US" sz="1800" dirty="0"/>
              <a:t>Predict speaker gender (Male/Female).</a:t>
            </a:r>
          </a:p>
          <a:p>
            <a:pPr>
              <a:buFont typeface="Arial" panose="020B0604020202020204" pitchFamily="34" charset="0"/>
              <a:buChar char="•"/>
            </a:pPr>
            <a:r>
              <a:rPr lang="en-US" sz="1800" dirty="0"/>
              <a:t>Classify speaker age group (Young, Adult, Senior).</a:t>
            </a:r>
          </a:p>
          <a:p>
            <a:pPr>
              <a:buFont typeface="Arial" panose="020B0604020202020204" pitchFamily="34" charset="0"/>
              <a:buChar char="•"/>
            </a:pPr>
            <a:r>
              <a:rPr lang="en-US" sz="1800" dirty="0"/>
              <a:t>Convert speech audio into text format.</a:t>
            </a:r>
          </a:p>
          <a:p>
            <a:pPr>
              <a:buFont typeface="Arial" panose="020B0604020202020204" pitchFamily="34" charset="0"/>
              <a:buChar char="•"/>
            </a:pPr>
            <a:r>
              <a:rPr lang="en-US" sz="1800" dirty="0"/>
              <a:t>Provide an integrated system for speech-based human behavior analysis.</a:t>
            </a:r>
          </a:p>
          <a:p>
            <a:pPr marL="0" indent="0">
              <a:buNone/>
            </a:pPr>
            <a:r>
              <a:rPr lang="en-US" sz="1800" b="1" dirty="0"/>
              <a:t>Applications include</a:t>
            </a:r>
            <a:r>
              <a:rPr lang="en-US" sz="1800" dirty="0"/>
              <a:t>:</a:t>
            </a:r>
          </a:p>
          <a:p>
            <a:pPr>
              <a:buFont typeface="Arial" panose="020B0604020202020204" pitchFamily="34" charset="0"/>
              <a:buChar char="•"/>
            </a:pPr>
            <a:r>
              <a:rPr lang="en-US" sz="1800" dirty="0"/>
              <a:t>Human-computer interaction</a:t>
            </a:r>
          </a:p>
          <a:p>
            <a:pPr>
              <a:buFont typeface="Arial" panose="020B0604020202020204" pitchFamily="34" charset="0"/>
              <a:buChar char="•"/>
            </a:pPr>
            <a:r>
              <a:rPr lang="en-US" sz="1800" dirty="0"/>
              <a:t>Smart assistants</a:t>
            </a:r>
          </a:p>
          <a:p>
            <a:pPr>
              <a:buFont typeface="Arial" panose="020B0604020202020204" pitchFamily="34" charset="0"/>
              <a:buChar char="•"/>
            </a:pPr>
            <a:r>
              <a:rPr lang="en-US" sz="1800" dirty="0"/>
              <a:t>Healthcare monitoring</a:t>
            </a:r>
          </a:p>
          <a:p>
            <a:pPr>
              <a:buFont typeface="Arial" panose="020B0604020202020204" pitchFamily="34" charset="0"/>
              <a:buChar char="•"/>
            </a:pPr>
            <a:r>
              <a:rPr lang="en-US" sz="1800" dirty="0"/>
              <a:t>Customer service analytics</a:t>
            </a:r>
          </a:p>
          <a:p>
            <a:pPr>
              <a:buFont typeface="Arial" panose="020B0604020202020204" pitchFamily="34" charset="0"/>
              <a:buChar char="•"/>
            </a:pPr>
            <a:r>
              <a:rPr lang="en-US" sz="1800" dirty="0"/>
              <a:t>Emotion-aware AI systems</a:t>
            </a:r>
          </a:p>
          <a:p>
            <a:endParaRPr lang="en-US" dirty="0"/>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6</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5" name="Slide Number Placeholder 4"/>
          <p:cNvSpPr>
            <a:spLocks noGrp="1"/>
          </p:cNvSpPr>
          <p:nvPr>
            <p:ph type="sldNum" sz="quarter" idx="12"/>
          </p:nvPr>
        </p:nvSpPr>
        <p:spPr/>
        <p:txBody>
          <a:bodyPr/>
          <a:lstStyle/>
          <a:p>
            <a:fld id="{B6F15528-21DE-4FAA-801E-634DDDAF4B2B}" type="slidenum">
              <a:rPr lang="en-US"/>
              <a:pPr/>
              <a:t>7</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12" name="Content Placeholder 2">
            <a:extLst>
              <a:ext uri="{FF2B5EF4-FFF2-40B4-BE49-F238E27FC236}">
                <a16:creationId xmlns:a16="http://schemas.microsoft.com/office/drawing/2014/main" id="{B0B144A0-802E-4A28-852C-F1BEEBEF9F3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endParaRPr lang="en-US" sz="1000" dirty="0"/>
          </a:p>
          <a:p>
            <a:endParaRPr lang="en-US" sz="1800" dirty="0"/>
          </a:p>
          <a:p>
            <a:endParaRPr lang="en-US" dirty="0"/>
          </a:p>
          <a:p>
            <a:endParaRPr lang="en-US" dirty="0"/>
          </a:p>
        </p:txBody>
      </p:sp>
      <p:graphicFrame>
        <p:nvGraphicFramePr>
          <p:cNvPr id="13" name="Table 12">
            <a:extLst>
              <a:ext uri="{FF2B5EF4-FFF2-40B4-BE49-F238E27FC236}">
                <a16:creationId xmlns:a16="http://schemas.microsoft.com/office/drawing/2014/main" id="{6A5BB601-1B24-436F-A6B6-C6114FEF230C}"/>
              </a:ext>
            </a:extLst>
          </p:cNvPr>
          <p:cNvGraphicFramePr>
            <a:graphicFrameLocks noGrp="1"/>
          </p:cNvGraphicFramePr>
          <p:nvPr>
            <p:extLst>
              <p:ext uri="{D42A27DB-BD31-4B8C-83A1-F6EECF244321}">
                <p14:modId xmlns:p14="http://schemas.microsoft.com/office/powerpoint/2010/main" val="786197882"/>
              </p:ext>
            </p:extLst>
          </p:nvPr>
        </p:nvGraphicFramePr>
        <p:xfrm>
          <a:off x="1066800" y="1600200"/>
          <a:ext cx="7924800" cy="3291840"/>
        </p:xfrm>
        <a:graphic>
          <a:graphicData uri="http://schemas.openxmlformats.org/drawingml/2006/table">
            <a:tbl>
              <a:tblPr/>
              <a:tblGrid>
                <a:gridCol w="3810000">
                  <a:extLst>
                    <a:ext uri="{9D8B030D-6E8A-4147-A177-3AD203B41FA5}">
                      <a16:colId xmlns:a16="http://schemas.microsoft.com/office/drawing/2014/main" val="1657962390"/>
                    </a:ext>
                  </a:extLst>
                </a:gridCol>
                <a:gridCol w="4114800">
                  <a:extLst>
                    <a:ext uri="{9D8B030D-6E8A-4147-A177-3AD203B41FA5}">
                      <a16:colId xmlns:a16="http://schemas.microsoft.com/office/drawing/2014/main" val="1477466155"/>
                    </a:ext>
                  </a:extLst>
                </a:gridCol>
              </a:tblGrid>
              <a:tr h="0">
                <a:tc>
                  <a:txBody>
                    <a:bodyPr/>
                    <a:lstStyle/>
                    <a:p>
                      <a:endParaRPr lang="en-IN" sz="1800" b="1" dirty="0"/>
                    </a:p>
                  </a:txBody>
                  <a:tcPr anchor="ctr">
                    <a:lnL>
                      <a:noFill/>
                    </a:lnL>
                    <a:lnR>
                      <a:noFill/>
                    </a:lnR>
                    <a:lnT>
                      <a:noFill/>
                    </a:lnT>
                    <a:lnB>
                      <a:noFill/>
                    </a:lnB>
                  </a:tcPr>
                </a:tc>
                <a:tc>
                  <a:txBody>
                    <a:bodyPr/>
                    <a:lstStyle/>
                    <a:p>
                      <a:endParaRPr lang="en-IN" sz="1800" b="1" dirty="0"/>
                    </a:p>
                  </a:txBody>
                  <a:tcPr anchor="ctr">
                    <a:lnL>
                      <a:noFill/>
                    </a:lnL>
                    <a:lnR>
                      <a:noFill/>
                    </a:lnR>
                    <a:lnT>
                      <a:noFill/>
                    </a:lnT>
                    <a:lnB>
                      <a:noFill/>
                    </a:lnB>
                  </a:tcPr>
                </a:tc>
                <a:extLst>
                  <a:ext uri="{0D108BD9-81ED-4DB2-BD59-A6C34878D82A}">
                    <a16:rowId xmlns:a16="http://schemas.microsoft.com/office/drawing/2014/main" val="3427846151"/>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594834227"/>
                  </a:ext>
                </a:extLst>
              </a:tr>
              <a:tr h="0">
                <a:tc>
                  <a:txBody>
                    <a:bodyPr/>
                    <a:lstStyle/>
                    <a:p>
                      <a:endParaRPr lang="en-IN" sz="1800" dirty="0"/>
                    </a:p>
                  </a:txBody>
                  <a:tcPr anchor="ctr">
                    <a:lnL>
                      <a:noFill/>
                    </a:lnL>
                    <a:lnR>
                      <a:noFill/>
                    </a:lnR>
                    <a:lnT>
                      <a:noFill/>
                    </a:lnT>
                    <a:lnB>
                      <a:noFill/>
                    </a:lnB>
                  </a:tcPr>
                </a:tc>
                <a:tc>
                  <a:txBody>
                    <a:bodyPr/>
                    <a:lstStyle/>
                    <a:p>
                      <a:endParaRPr lang="en-IN" sz="1800"/>
                    </a:p>
                  </a:txBody>
                  <a:tcPr anchor="ctr">
                    <a:lnL>
                      <a:noFill/>
                    </a:lnL>
                    <a:lnR>
                      <a:noFill/>
                    </a:lnR>
                    <a:lnT>
                      <a:noFill/>
                    </a:lnT>
                    <a:lnB>
                      <a:noFill/>
                    </a:lnB>
                  </a:tcPr>
                </a:tc>
                <a:extLst>
                  <a:ext uri="{0D108BD9-81ED-4DB2-BD59-A6C34878D82A}">
                    <a16:rowId xmlns:a16="http://schemas.microsoft.com/office/drawing/2014/main" val="4076495246"/>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3331829600"/>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1059690385"/>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1365926151"/>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2443223120"/>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2227962139"/>
                  </a:ext>
                </a:extLst>
              </a:tr>
              <a:tr h="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1774081006"/>
                  </a:ext>
                </a:extLst>
              </a:tr>
            </a:tbl>
          </a:graphicData>
        </a:graphic>
      </p:graphicFrame>
      <p:graphicFrame>
        <p:nvGraphicFramePr>
          <p:cNvPr id="17" name="Table 17">
            <a:extLst>
              <a:ext uri="{FF2B5EF4-FFF2-40B4-BE49-F238E27FC236}">
                <a16:creationId xmlns:a16="http://schemas.microsoft.com/office/drawing/2014/main" id="{532DCB22-A9B3-4565-855C-E52FAFEBC73B}"/>
              </a:ext>
            </a:extLst>
          </p:cNvPr>
          <p:cNvGraphicFramePr>
            <a:graphicFrameLocks noGrp="1"/>
          </p:cNvGraphicFramePr>
          <p:nvPr>
            <p:extLst>
              <p:ext uri="{D42A27DB-BD31-4B8C-83A1-F6EECF244321}">
                <p14:modId xmlns:p14="http://schemas.microsoft.com/office/powerpoint/2010/main" val="3283992453"/>
              </p:ext>
            </p:extLst>
          </p:nvPr>
        </p:nvGraphicFramePr>
        <p:xfrm>
          <a:off x="457200" y="1143952"/>
          <a:ext cx="3927602" cy="5394960"/>
        </p:xfrm>
        <a:graphic>
          <a:graphicData uri="http://schemas.openxmlformats.org/drawingml/2006/table">
            <a:tbl>
              <a:tblPr firstRow="1" bandRow="1">
                <a:tableStyleId>{5C22544A-7EE6-4342-B048-85BDC9FD1C3A}</a:tableStyleId>
              </a:tblPr>
              <a:tblGrid>
                <a:gridCol w="2007362">
                  <a:extLst>
                    <a:ext uri="{9D8B030D-6E8A-4147-A177-3AD203B41FA5}">
                      <a16:colId xmlns:a16="http://schemas.microsoft.com/office/drawing/2014/main" val="1469382739"/>
                    </a:ext>
                  </a:extLst>
                </a:gridCol>
                <a:gridCol w="1920240">
                  <a:extLst>
                    <a:ext uri="{9D8B030D-6E8A-4147-A177-3AD203B41FA5}">
                      <a16:colId xmlns:a16="http://schemas.microsoft.com/office/drawing/2014/main" val="2607318959"/>
                    </a:ext>
                  </a:extLst>
                </a:gridCol>
              </a:tblGrid>
              <a:tr h="285448">
                <a:tc>
                  <a:txBody>
                    <a:bodyPr/>
                    <a:lstStyle/>
                    <a:p>
                      <a:r>
                        <a:rPr lang="en-IN" dirty="0"/>
                        <a:t>Software</a:t>
                      </a:r>
                    </a:p>
                  </a:txBody>
                  <a:tcPr anchor="ctr"/>
                </a:tc>
                <a:tc>
                  <a:txBody>
                    <a:bodyPr/>
                    <a:lstStyle/>
                    <a:p>
                      <a:r>
                        <a:rPr lang="en-IN"/>
                        <a:t>Purpose</a:t>
                      </a:r>
                    </a:p>
                  </a:txBody>
                  <a:tcPr anchor="ctr"/>
                </a:tc>
                <a:extLst>
                  <a:ext uri="{0D108BD9-81ED-4DB2-BD59-A6C34878D82A}">
                    <a16:rowId xmlns:a16="http://schemas.microsoft.com/office/drawing/2014/main" val="2898678045"/>
                  </a:ext>
                </a:extLst>
              </a:tr>
              <a:tr h="713619">
                <a:tc>
                  <a:txBody>
                    <a:bodyPr/>
                    <a:lstStyle/>
                    <a:p>
                      <a:r>
                        <a:rPr lang="en-IN"/>
                        <a:t>Google Colab</a:t>
                      </a:r>
                    </a:p>
                  </a:txBody>
                  <a:tcPr anchor="ctr"/>
                </a:tc>
                <a:tc>
                  <a:txBody>
                    <a:bodyPr/>
                    <a:lstStyle/>
                    <a:p>
                      <a:r>
                        <a:rPr lang="en-IN"/>
                        <a:t>Model development and training</a:t>
                      </a:r>
                    </a:p>
                  </a:txBody>
                  <a:tcPr anchor="ctr"/>
                </a:tc>
                <a:extLst>
                  <a:ext uri="{0D108BD9-81ED-4DB2-BD59-A6C34878D82A}">
                    <a16:rowId xmlns:a16="http://schemas.microsoft.com/office/drawing/2014/main" val="4037959713"/>
                  </a:ext>
                </a:extLst>
              </a:tr>
              <a:tr h="499533">
                <a:tc>
                  <a:txBody>
                    <a:bodyPr/>
                    <a:lstStyle/>
                    <a:p>
                      <a:r>
                        <a:rPr lang="en-IN"/>
                        <a:t>Python</a:t>
                      </a:r>
                    </a:p>
                  </a:txBody>
                  <a:tcPr anchor="ctr"/>
                </a:tc>
                <a:tc>
                  <a:txBody>
                    <a:bodyPr/>
                    <a:lstStyle/>
                    <a:p>
                      <a:r>
                        <a:rPr lang="en-IN"/>
                        <a:t>Programming language</a:t>
                      </a:r>
                    </a:p>
                  </a:txBody>
                  <a:tcPr anchor="ctr"/>
                </a:tc>
                <a:extLst>
                  <a:ext uri="{0D108BD9-81ED-4DB2-BD59-A6C34878D82A}">
                    <a16:rowId xmlns:a16="http://schemas.microsoft.com/office/drawing/2014/main" val="110218851"/>
                  </a:ext>
                </a:extLst>
              </a:tr>
              <a:tr h="499533">
                <a:tc>
                  <a:txBody>
                    <a:bodyPr/>
                    <a:lstStyle/>
                    <a:p>
                      <a:r>
                        <a:rPr lang="en-IN"/>
                        <a:t>Librosa</a:t>
                      </a:r>
                    </a:p>
                  </a:txBody>
                  <a:tcPr anchor="ctr"/>
                </a:tc>
                <a:tc>
                  <a:txBody>
                    <a:bodyPr/>
                    <a:lstStyle/>
                    <a:p>
                      <a:r>
                        <a:rPr lang="en-IN"/>
                        <a:t>Audio feature extraction</a:t>
                      </a:r>
                    </a:p>
                  </a:txBody>
                  <a:tcPr anchor="ctr"/>
                </a:tc>
                <a:extLst>
                  <a:ext uri="{0D108BD9-81ED-4DB2-BD59-A6C34878D82A}">
                    <a16:rowId xmlns:a16="http://schemas.microsoft.com/office/drawing/2014/main" val="1998897913"/>
                  </a:ext>
                </a:extLst>
              </a:tr>
              <a:tr h="499533">
                <a:tc>
                  <a:txBody>
                    <a:bodyPr/>
                    <a:lstStyle/>
                    <a:p>
                      <a:r>
                        <a:rPr lang="en-IN"/>
                        <a:t>TensorFlow / Keras</a:t>
                      </a:r>
                    </a:p>
                  </a:txBody>
                  <a:tcPr anchor="ctr"/>
                </a:tc>
                <a:tc>
                  <a:txBody>
                    <a:bodyPr/>
                    <a:lstStyle/>
                    <a:p>
                      <a:r>
                        <a:rPr lang="en-IN"/>
                        <a:t>Deep learning models</a:t>
                      </a:r>
                    </a:p>
                  </a:txBody>
                  <a:tcPr anchor="ctr"/>
                </a:tc>
                <a:extLst>
                  <a:ext uri="{0D108BD9-81ED-4DB2-BD59-A6C34878D82A}">
                    <a16:rowId xmlns:a16="http://schemas.microsoft.com/office/drawing/2014/main" val="943924607"/>
                  </a:ext>
                </a:extLst>
              </a:tr>
              <a:tr h="499533">
                <a:tc>
                  <a:txBody>
                    <a:bodyPr/>
                    <a:lstStyle/>
                    <a:p>
                      <a:r>
                        <a:rPr lang="en-IN"/>
                        <a:t>XGBoost</a:t>
                      </a:r>
                    </a:p>
                  </a:txBody>
                  <a:tcPr anchor="ctr"/>
                </a:tc>
                <a:tc>
                  <a:txBody>
                    <a:bodyPr/>
                    <a:lstStyle/>
                    <a:p>
                      <a:r>
                        <a:rPr lang="en-IN"/>
                        <a:t>Machine learning classification</a:t>
                      </a:r>
                    </a:p>
                  </a:txBody>
                  <a:tcPr anchor="ctr"/>
                </a:tc>
                <a:extLst>
                  <a:ext uri="{0D108BD9-81ED-4DB2-BD59-A6C34878D82A}">
                    <a16:rowId xmlns:a16="http://schemas.microsoft.com/office/drawing/2014/main" val="1280658520"/>
                  </a:ext>
                </a:extLst>
              </a:tr>
              <a:tr h="499533">
                <a:tc>
                  <a:txBody>
                    <a:bodyPr/>
                    <a:lstStyle/>
                    <a:p>
                      <a:r>
                        <a:rPr lang="en-IN"/>
                        <a:t>SpeechRecognition</a:t>
                      </a:r>
                    </a:p>
                  </a:txBody>
                  <a:tcPr anchor="ctr"/>
                </a:tc>
                <a:tc>
                  <a:txBody>
                    <a:bodyPr/>
                    <a:lstStyle/>
                    <a:p>
                      <a:r>
                        <a:rPr lang="en-IN" dirty="0"/>
                        <a:t>Speech-to-text conversion</a:t>
                      </a:r>
                    </a:p>
                  </a:txBody>
                  <a:tcPr anchor="ctr"/>
                </a:tc>
                <a:extLst>
                  <a:ext uri="{0D108BD9-81ED-4DB2-BD59-A6C34878D82A}">
                    <a16:rowId xmlns:a16="http://schemas.microsoft.com/office/drawing/2014/main" val="1234791915"/>
                  </a:ext>
                </a:extLst>
              </a:tr>
              <a:tr h="713619">
                <a:tc>
                  <a:txBody>
                    <a:bodyPr/>
                    <a:lstStyle/>
                    <a:p>
                      <a:r>
                        <a:rPr lang="en-IN" dirty="0"/>
                        <a:t>Scikit-learn</a:t>
                      </a:r>
                    </a:p>
                  </a:txBody>
                  <a:tcPr anchor="ctr"/>
                </a:tc>
                <a:tc>
                  <a:txBody>
                    <a:bodyPr/>
                    <a:lstStyle/>
                    <a:p>
                      <a:r>
                        <a:rPr lang="en-IN" dirty="0"/>
                        <a:t>Data </a:t>
                      </a:r>
                      <a:r>
                        <a:rPr lang="en-IN" dirty="0" err="1"/>
                        <a:t>preprocessing</a:t>
                      </a:r>
                      <a:r>
                        <a:rPr lang="en-IN" dirty="0"/>
                        <a:t> and evaluation</a:t>
                      </a:r>
                    </a:p>
                  </a:txBody>
                  <a:tcPr anchor="ctr"/>
                </a:tc>
                <a:extLst>
                  <a:ext uri="{0D108BD9-81ED-4DB2-BD59-A6C34878D82A}">
                    <a16:rowId xmlns:a16="http://schemas.microsoft.com/office/drawing/2014/main" val="1526658761"/>
                  </a:ext>
                </a:extLst>
              </a:tr>
            </a:tbl>
          </a:graphicData>
        </a:graphic>
      </p:graphicFrame>
      <p:graphicFrame>
        <p:nvGraphicFramePr>
          <p:cNvPr id="18" name="Table 18">
            <a:extLst>
              <a:ext uri="{FF2B5EF4-FFF2-40B4-BE49-F238E27FC236}">
                <a16:creationId xmlns:a16="http://schemas.microsoft.com/office/drawing/2014/main" id="{1DEC0E67-F0C3-4E25-AA88-6D33D605C4AC}"/>
              </a:ext>
            </a:extLst>
          </p:cNvPr>
          <p:cNvGraphicFramePr>
            <a:graphicFrameLocks noGrp="1"/>
          </p:cNvGraphicFramePr>
          <p:nvPr>
            <p:extLst>
              <p:ext uri="{D42A27DB-BD31-4B8C-83A1-F6EECF244321}">
                <p14:modId xmlns:p14="http://schemas.microsoft.com/office/powerpoint/2010/main" val="505845881"/>
              </p:ext>
            </p:extLst>
          </p:nvPr>
        </p:nvGraphicFramePr>
        <p:xfrm>
          <a:off x="4622800" y="1148492"/>
          <a:ext cx="4064000" cy="30327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22025496"/>
                    </a:ext>
                  </a:extLst>
                </a:gridCol>
                <a:gridCol w="2032000">
                  <a:extLst>
                    <a:ext uri="{9D8B030D-6E8A-4147-A177-3AD203B41FA5}">
                      <a16:colId xmlns:a16="http://schemas.microsoft.com/office/drawing/2014/main" val="354977023"/>
                    </a:ext>
                  </a:extLst>
                </a:gridCol>
              </a:tblGrid>
              <a:tr h="370840">
                <a:tc>
                  <a:txBody>
                    <a:bodyPr/>
                    <a:lstStyle/>
                    <a:p>
                      <a:r>
                        <a:rPr lang="en-IN" dirty="0"/>
                        <a:t>Hardware</a:t>
                      </a:r>
                    </a:p>
                  </a:txBody>
                  <a:tcPr anchor="ctr"/>
                </a:tc>
                <a:tc>
                  <a:txBody>
                    <a:bodyPr/>
                    <a:lstStyle/>
                    <a:p>
                      <a:r>
                        <a:rPr lang="en-IN"/>
                        <a:t>Specification</a:t>
                      </a:r>
                    </a:p>
                  </a:txBody>
                  <a:tcPr anchor="ctr"/>
                </a:tc>
                <a:extLst>
                  <a:ext uri="{0D108BD9-81ED-4DB2-BD59-A6C34878D82A}">
                    <a16:rowId xmlns:a16="http://schemas.microsoft.com/office/drawing/2014/main" val="920219999"/>
                  </a:ext>
                </a:extLst>
              </a:tr>
              <a:tr h="370840">
                <a:tc>
                  <a:txBody>
                    <a:bodyPr/>
                    <a:lstStyle/>
                    <a:p>
                      <a:r>
                        <a:rPr lang="en-IN"/>
                        <a:t>Processor</a:t>
                      </a:r>
                    </a:p>
                  </a:txBody>
                  <a:tcPr anchor="ctr"/>
                </a:tc>
                <a:tc>
                  <a:txBody>
                    <a:bodyPr/>
                    <a:lstStyle/>
                    <a:p>
                      <a:r>
                        <a:rPr lang="en-IN"/>
                        <a:t>Intel i5 / i7 or equivalent</a:t>
                      </a:r>
                    </a:p>
                  </a:txBody>
                  <a:tcPr anchor="ctr"/>
                </a:tc>
                <a:extLst>
                  <a:ext uri="{0D108BD9-81ED-4DB2-BD59-A6C34878D82A}">
                    <a16:rowId xmlns:a16="http://schemas.microsoft.com/office/drawing/2014/main" val="2609609712"/>
                  </a:ext>
                </a:extLst>
              </a:tr>
              <a:tr h="370840">
                <a:tc>
                  <a:txBody>
                    <a:bodyPr/>
                    <a:lstStyle/>
                    <a:p>
                      <a:r>
                        <a:rPr lang="en-IN"/>
                        <a:t>RAM</a:t>
                      </a:r>
                    </a:p>
                  </a:txBody>
                  <a:tcPr anchor="ctr"/>
                </a:tc>
                <a:tc>
                  <a:txBody>
                    <a:bodyPr/>
                    <a:lstStyle/>
                    <a:p>
                      <a:r>
                        <a:rPr lang="en-IN"/>
                        <a:t>Minimum 8 GB</a:t>
                      </a:r>
                    </a:p>
                  </a:txBody>
                  <a:tcPr anchor="ctr"/>
                </a:tc>
                <a:extLst>
                  <a:ext uri="{0D108BD9-81ED-4DB2-BD59-A6C34878D82A}">
                    <a16:rowId xmlns:a16="http://schemas.microsoft.com/office/drawing/2014/main" val="401700672"/>
                  </a:ext>
                </a:extLst>
              </a:tr>
              <a:tr h="370840">
                <a:tc>
                  <a:txBody>
                    <a:bodyPr/>
                    <a:lstStyle/>
                    <a:p>
                      <a:r>
                        <a:rPr lang="en-IN"/>
                        <a:t>Storage</a:t>
                      </a:r>
                    </a:p>
                  </a:txBody>
                  <a:tcPr anchor="ctr"/>
                </a:tc>
                <a:tc>
                  <a:txBody>
                    <a:bodyPr/>
                    <a:lstStyle/>
                    <a:p>
                      <a:r>
                        <a:rPr lang="en-IN"/>
                        <a:t>256 GB or above</a:t>
                      </a:r>
                    </a:p>
                  </a:txBody>
                  <a:tcPr anchor="ctr"/>
                </a:tc>
                <a:extLst>
                  <a:ext uri="{0D108BD9-81ED-4DB2-BD59-A6C34878D82A}">
                    <a16:rowId xmlns:a16="http://schemas.microsoft.com/office/drawing/2014/main" val="1313774518"/>
                  </a:ext>
                </a:extLst>
              </a:tr>
              <a:tr h="370840">
                <a:tc>
                  <a:txBody>
                    <a:bodyPr/>
                    <a:lstStyle/>
                    <a:p>
                      <a:r>
                        <a:rPr lang="en-IN"/>
                        <a:t>GPU</a:t>
                      </a:r>
                    </a:p>
                  </a:txBody>
                  <a:tcPr anchor="ctr"/>
                </a:tc>
                <a:tc>
                  <a:txBody>
                    <a:bodyPr/>
                    <a:lstStyle/>
                    <a:p>
                      <a:r>
                        <a:rPr lang="en-US"/>
                        <a:t>Optional (Google Colab GPU used)</a:t>
                      </a:r>
                    </a:p>
                  </a:txBody>
                  <a:tcPr anchor="ctr"/>
                </a:tc>
                <a:extLst>
                  <a:ext uri="{0D108BD9-81ED-4DB2-BD59-A6C34878D82A}">
                    <a16:rowId xmlns:a16="http://schemas.microsoft.com/office/drawing/2014/main" val="2734223935"/>
                  </a:ext>
                </a:extLst>
              </a:tr>
              <a:tr h="370840">
                <a:tc>
                  <a:txBody>
                    <a:bodyPr/>
                    <a:lstStyle/>
                    <a:p>
                      <a:r>
                        <a:rPr lang="en-IN"/>
                        <a:t>Microphone</a:t>
                      </a:r>
                    </a:p>
                  </a:txBody>
                  <a:tcPr anchor="ctr"/>
                </a:tc>
                <a:tc>
                  <a:txBody>
                    <a:bodyPr/>
                    <a:lstStyle/>
                    <a:p>
                      <a:r>
                        <a:rPr lang="en-IN" dirty="0"/>
                        <a:t>For recording speech</a:t>
                      </a:r>
                    </a:p>
                  </a:txBody>
                  <a:tcPr anchor="ctr"/>
                </a:tc>
                <a:extLst>
                  <a:ext uri="{0D108BD9-81ED-4DB2-BD59-A6C34878D82A}">
                    <a16:rowId xmlns:a16="http://schemas.microsoft.com/office/drawing/2014/main" val="3231638655"/>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901D-E22F-4DE8-9432-DE53CF2D0382}"/>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Process Model</a:t>
            </a:r>
          </a:p>
        </p:txBody>
      </p:sp>
      <p:sp>
        <p:nvSpPr>
          <p:cNvPr id="3" name="Content Placeholder 2">
            <a:extLst>
              <a:ext uri="{FF2B5EF4-FFF2-40B4-BE49-F238E27FC236}">
                <a16:creationId xmlns:a16="http://schemas.microsoft.com/office/drawing/2014/main" id="{910E5670-7EBF-4D35-A203-BB27491B83F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0" indent="0">
              <a:buNone/>
            </a:pPr>
            <a:r>
              <a:rPr lang="en-US" sz="1800" b="1" dirty="0"/>
              <a:t>The project follows a Machine Learning Development Lifecycle:</a:t>
            </a:r>
          </a:p>
          <a:p>
            <a:pPr>
              <a:buFont typeface="+mj-lt"/>
              <a:buAutoNum type="arabicPeriod"/>
            </a:pPr>
            <a:r>
              <a:rPr lang="en-US" sz="1800" dirty="0"/>
              <a:t>Dataset Collection</a:t>
            </a:r>
          </a:p>
          <a:p>
            <a:pPr>
              <a:buFont typeface="+mj-lt"/>
              <a:buAutoNum type="arabicPeriod"/>
            </a:pPr>
            <a:r>
              <a:rPr lang="en-US" sz="1800" dirty="0"/>
              <a:t>Data Preprocessing</a:t>
            </a:r>
          </a:p>
          <a:p>
            <a:pPr>
              <a:buFont typeface="+mj-lt"/>
              <a:buAutoNum type="arabicPeriod"/>
            </a:pPr>
            <a:r>
              <a:rPr lang="en-US" sz="1800" dirty="0"/>
              <a:t>Feature Extraction</a:t>
            </a:r>
          </a:p>
          <a:p>
            <a:pPr>
              <a:buFont typeface="+mj-lt"/>
              <a:buAutoNum type="arabicPeriod"/>
            </a:pPr>
            <a:r>
              <a:rPr lang="en-US" sz="1800" dirty="0"/>
              <a:t>Model Training</a:t>
            </a:r>
          </a:p>
          <a:p>
            <a:pPr>
              <a:buFont typeface="+mj-lt"/>
              <a:buAutoNum type="arabicPeriod"/>
            </a:pPr>
            <a:r>
              <a:rPr lang="en-US" sz="1800" dirty="0"/>
              <a:t>Model Evaluation</a:t>
            </a:r>
          </a:p>
          <a:p>
            <a:pPr>
              <a:buFont typeface="+mj-lt"/>
              <a:buAutoNum type="arabicPeriod"/>
            </a:pPr>
            <a:r>
              <a:rPr lang="en-US" sz="1800" dirty="0"/>
              <a:t>Prediction System Development</a:t>
            </a:r>
          </a:p>
          <a:p>
            <a:pPr>
              <a:buFont typeface="+mj-lt"/>
              <a:buAutoNum type="arabicPeriod"/>
            </a:pPr>
            <a:r>
              <a:rPr lang="en-US" sz="1800" dirty="0"/>
              <a:t>Result Analysis</a:t>
            </a:r>
          </a:p>
          <a:p>
            <a:pPr fontAlgn="auto">
              <a:spcAft>
                <a:spcPts val="0"/>
              </a:spcAft>
              <a:defRPr/>
            </a:pPr>
            <a:endParaRPr lang="en-US" sz="1800" dirty="0"/>
          </a:p>
          <a:p>
            <a:pPr algn="ctr" fontAlgn="auto">
              <a:spcAft>
                <a:spcPts val="0"/>
              </a:spcAft>
              <a:buFont typeface="Arial" panose="020B0604020202020204" pitchFamily="34" charset="0"/>
              <a:buNone/>
              <a:defRPr/>
            </a:pPr>
            <a:endParaRPr lang="en-US" sz="2800" dirty="0"/>
          </a:p>
          <a:p>
            <a:pPr algn="ctr" fontAlgn="auto">
              <a:spcAft>
                <a:spcPts val="0"/>
              </a:spcAft>
              <a:buFont typeface="Arial" panose="020B0604020202020204" pitchFamily="34" charset="0"/>
              <a:buNone/>
              <a:defRPr/>
            </a:pPr>
            <a:endParaRPr lang="en-US" sz="2800" dirty="0"/>
          </a:p>
          <a:p>
            <a:pPr algn="ctr" fontAlgn="auto">
              <a:spcAft>
                <a:spcPts val="0"/>
              </a:spcAft>
              <a:buFont typeface="Arial" panose="020B0604020202020204" pitchFamily="34" charset="0"/>
              <a:buNone/>
              <a:defRPr/>
            </a:pPr>
            <a:endParaRPr lang="en-US" sz="2800" dirty="0"/>
          </a:p>
          <a:p>
            <a:pPr fontAlgn="auto">
              <a:spcAft>
                <a:spcPts val="0"/>
              </a:spcAft>
              <a:defRPr/>
            </a:pPr>
            <a:endParaRPr lang="en-US" sz="2800" dirty="0"/>
          </a:p>
          <a:p>
            <a:pPr fontAlgn="auto">
              <a:spcAft>
                <a:spcPts val="0"/>
              </a:spcAft>
              <a:defRPr/>
            </a:pPr>
            <a:endParaRPr lang="en-US" sz="2800" dirty="0"/>
          </a:p>
        </p:txBody>
      </p:sp>
      <p:sp>
        <p:nvSpPr>
          <p:cNvPr id="5" name="Slide Number Placeholder 4">
            <a:extLst>
              <a:ext uri="{FF2B5EF4-FFF2-40B4-BE49-F238E27FC236}">
                <a16:creationId xmlns:a16="http://schemas.microsoft.com/office/drawing/2014/main" id="{8FA3DC3E-817D-4934-A8A3-9B35012B69C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F14D1DE-E57B-4FC7-9D83-AB1C4CB583B1}" type="slidenum">
              <a:rPr lang="en-US" altLang="en-US">
                <a:solidFill>
                  <a:srgbClr val="898989"/>
                </a:solidFill>
              </a:rPr>
              <a:pPr/>
              <a:t>8</a:t>
            </a:fld>
            <a:endParaRPr lang="en-US" altLang="en-US">
              <a:solidFill>
                <a:srgbClr val="898989"/>
              </a:solidFill>
            </a:endParaRPr>
          </a:p>
        </p:txBody>
      </p:sp>
      <p:pic>
        <p:nvPicPr>
          <p:cNvPr id="4" name="Picture 3">
            <a:extLst>
              <a:ext uri="{FF2B5EF4-FFF2-40B4-BE49-F238E27FC236}">
                <a16:creationId xmlns:a16="http://schemas.microsoft.com/office/drawing/2014/main" id="{4B359326-8E95-426A-1865-46915AD87E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238" y="228600"/>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9</a:t>
            </a:fld>
            <a:endParaRPr lang="en-US"/>
          </a:p>
        </p:txBody>
      </p:sp>
      <p:pic>
        <p:nvPicPr>
          <p:cNvPr id="11" name="Content Placeholder 10">
            <a:extLst>
              <a:ext uri="{FF2B5EF4-FFF2-40B4-BE49-F238E27FC236}">
                <a16:creationId xmlns:a16="http://schemas.microsoft.com/office/drawing/2014/main" id="{B0232EE6-2FBF-456C-8E0C-B83033DD93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6829" y="1600200"/>
            <a:ext cx="4330341" cy="4525963"/>
          </a:xfrm>
        </p:spPr>
      </p:pic>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8"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pic>
        <p:nvPicPr>
          <p:cNvPr id="13" name="Picture 12">
            <a:extLst>
              <a:ext uri="{FF2B5EF4-FFF2-40B4-BE49-F238E27FC236}">
                <a16:creationId xmlns:a16="http://schemas.microsoft.com/office/drawing/2014/main" id="{79B456CD-F8CD-4341-934E-0EEAC2592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495" y="1439068"/>
            <a:ext cx="4638675" cy="484822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10</a:t>
            </a:fld>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6" name="Content Placeholder 2">
            <a:extLst>
              <a:ext uri="{FF2B5EF4-FFF2-40B4-BE49-F238E27FC236}">
                <a16:creationId xmlns:a16="http://schemas.microsoft.com/office/drawing/2014/main" id="{1F2F9525-362D-6241-5895-CA49DB80EF45}"/>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IN" sz="2200" b="1" dirty="0"/>
              <a:t>Feature Extraction</a:t>
            </a:r>
          </a:p>
          <a:p>
            <a:r>
              <a:rPr lang="en-IN" sz="2000" dirty="0"/>
              <a:t>Extracted using </a:t>
            </a:r>
            <a:r>
              <a:rPr lang="en-IN" sz="2000" b="1" dirty="0" err="1"/>
              <a:t>Librosa</a:t>
            </a:r>
            <a:r>
              <a:rPr lang="en-IN" sz="2000" b="1" dirty="0"/>
              <a:t> library</a:t>
            </a:r>
            <a:r>
              <a:rPr lang="en-IN" sz="2000" dirty="0"/>
              <a:t> </a:t>
            </a:r>
          </a:p>
          <a:p>
            <a:r>
              <a:rPr lang="en-IN" sz="2000" dirty="0"/>
              <a:t>Key features used: </a:t>
            </a:r>
          </a:p>
          <a:p>
            <a:pPr lvl="1"/>
            <a:r>
              <a:rPr lang="en-IN" sz="2000" b="1" dirty="0"/>
              <a:t>MFCC, Delta &amp; Delta-Delta MFCC</a:t>
            </a:r>
            <a:r>
              <a:rPr lang="en-IN" sz="2000" dirty="0"/>
              <a:t> </a:t>
            </a:r>
          </a:p>
          <a:p>
            <a:pPr lvl="1"/>
            <a:r>
              <a:rPr lang="en-IN" sz="2000" b="1" dirty="0"/>
              <a:t>Chroma Features</a:t>
            </a:r>
            <a:r>
              <a:rPr lang="en-IN" sz="2000" dirty="0"/>
              <a:t> </a:t>
            </a:r>
          </a:p>
          <a:p>
            <a:pPr lvl="1"/>
            <a:r>
              <a:rPr lang="en-IN" sz="2000" b="1" dirty="0"/>
              <a:t>Mel Spectrogram</a:t>
            </a:r>
            <a:r>
              <a:rPr lang="en-IN" sz="2000" dirty="0"/>
              <a:t> </a:t>
            </a:r>
          </a:p>
          <a:p>
            <a:pPr lvl="1"/>
            <a:r>
              <a:rPr lang="en-IN" sz="2000" b="1" dirty="0"/>
              <a:t>Spectral Contrast</a:t>
            </a:r>
            <a:r>
              <a:rPr lang="en-IN" sz="2000" dirty="0"/>
              <a:t> </a:t>
            </a:r>
          </a:p>
          <a:p>
            <a:pPr lvl="1"/>
            <a:r>
              <a:rPr lang="en-IN" sz="2000" b="1" dirty="0"/>
              <a:t>Zero Crossing Rate</a:t>
            </a:r>
            <a:r>
              <a:rPr lang="en-IN" sz="2000" dirty="0"/>
              <a:t> </a:t>
            </a:r>
          </a:p>
          <a:p>
            <a:pPr lvl="1"/>
            <a:r>
              <a:rPr lang="en-IN" sz="2000" b="1" dirty="0"/>
              <a:t>Spectral Centroid &amp; Rolloff</a:t>
            </a:r>
            <a:r>
              <a:rPr lang="en-IN" sz="2000" dirty="0"/>
              <a:t> </a:t>
            </a:r>
          </a:p>
          <a:p>
            <a:pPr lvl="1"/>
            <a:r>
              <a:rPr lang="en-IN" sz="2000" b="1" dirty="0"/>
              <a:t>Pitch</a:t>
            </a:r>
            <a:r>
              <a:rPr lang="en-IN" sz="2000" dirty="0"/>
              <a:t> </a:t>
            </a:r>
          </a:p>
          <a:p>
            <a:r>
              <a:rPr lang="en-IN" sz="2000" dirty="0"/>
              <a:t>These features capture </a:t>
            </a:r>
            <a:r>
              <a:rPr lang="en-IN" sz="2000" b="1" dirty="0"/>
              <a:t>acoustic and emotional characteristics</a:t>
            </a:r>
            <a:r>
              <a:rPr lang="en-IN" sz="2000" dirty="0"/>
              <a:t> of speech signals </a:t>
            </a:r>
          </a:p>
          <a:p>
            <a:pPr marL="0" indent="0" fontAlgn="auto">
              <a:spcAft>
                <a:spcPts val="0"/>
              </a:spcAft>
              <a:buNone/>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Tree>
    <p:extLst>
      <p:ext uri="{BB962C8B-B14F-4D97-AF65-F5344CB8AC3E}">
        <p14:creationId xmlns:p14="http://schemas.microsoft.com/office/powerpoint/2010/main" val="75962246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4D3D73-9BEF-19F9-51B9-5CDD5974CF66}"/>
              </a:ext>
            </a:extLst>
          </p:cNvPr>
          <p:cNvSpPr>
            <a:spLocks noGrp="1"/>
          </p:cNvSpPr>
          <p:nvPr>
            <p:ph type="ftr" sz="quarter" idx="11"/>
          </p:nvPr>
        </p:nvSpPr>
        <p:spPr/>
        <p:txBody>
          <a:bodyPr/>
          <a:lstStyle/>
          <a:p>
            <a:pPr>
              <a:defRPr/>
            </a:pPr>
            <a:r>
              <a:rPr lang="en-US"/>
              <a:t>DEPARTMENT OF CSE MINI PROJECT REVIEW-1</a:t>
            </a:r>
          </a:p>
        </p:txBody>
      </p:sp>
      <p:sp>
        <p:nvSpPr>
          <p:cNvPr id="3" name="Slide Number Placeholder 2">
            <a:extLst>
              <a:ext uri="{FF2B5EF4-FFF2-40B4-BE49-F238E27FC236}">
                <a16:creationId xmlns:a16="http://schemas.microsoft.com/office/drawing/2014/main" id="{3E0E07C0-7DEC-C7DA-1BFF-81322F5B4E1E}"/>
              </a:ext>
            </a:extLst>
          </p:cNvPr>
          <p:cNvSpPr>
            <a:spLocks noGrp="1"/>
          </p:cNvSpPr>
          <p:nvPr>
            <p:ph type="sldNum" sz="quarter" idx="12"/>
          </p:nvPr>
        </p:nvSpPr>
        <p:spPr/>
        <p:txBody>
          <a:bodyPr/>
          <a:lstStyle/>
          <a:p>
            <a:fld id="{D1610838-7400-411B-B689-2F6C35481D0C}" type="slidenum">
              <a:rPr lang="en-US" altLang="en-US" smtClean="0"/>
              <a:pPr/>
              <a:t>11</a:t>
            </a:fld>
            <a:endParaRPr lang="en-US" altLang="en-US"/>
          </a:p>
        </p:txBody>
      </p:sp>
      <p:sp>
        <p:nvSpPr>
          <p:cNvPr id="4" name="Title 1">
            <a:extLst>
              <a:ext uri="{FF2B5EF4-FFF2-40B4-BE49-F238E27FC236}">
                <a16:creationId xmlns:a16="http://schemas.microsoft.com/office/drawing/2014/main" id="{BA6FD8F7-2917-F965-05AF-72041EE0CB12}"/>
              </a:ext>
            </a:extLst>
          </p:cNvPr>
          <p:cNvSpPr txBox="1">
            <a:spLocks/>
          </p:cNvSpPr>
          <p:nvPr/>
        </p:nvSpPr>
        <p:spPr>
          <a:xfrm>
            <a:off x="228600" y="274638"/>
            <a:ext cx="7391400" cy="639762"/>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lvl1pPr algn="ctr" rtl="0" fontAlgn="base">
              <a:spcBef>
                <a:spcPct val="0"/>
              </a:spcBef>
              <a:spcAft>
                <a:spcPct val="0"/>
              </a:spcAft>
              <a:defRPr sz="4400" kern="1200">
                <a:solidFill>
                  <a:schemeClr val="dk1"/>
                </a:solidFill>
                <a:latin typeface="+mn-lt"/>
                <a:ea typeface="+mn-ea"/>
                <a:cs typeface="+mn-cs"/>
              </a:defRPr>
            </a:lvl1pPr>
            <a:lvl2pPr algn="ctr" rtl="0" fontAlgn="base">
              <a:spcBef>
                <a:spcPct val="0"/>
              </a:spcBef>
              <a:spcAft>
                <a:spcPct val="0"/>
              </a:spcAft>
              <a:defRPr sz="4400">
                <a:solidFill>
                  <a:schemeClr val="dk1"/>
                </a:solidFill>
                <a:latin typeface="+mn-lt"/>
                <a:ea typeface="+mn-ea"/>
                <a:cs typeface="+mn-cs"/>
              </a:defRPr>
            </a:lvl2pPr>
            <a:lvl3pPr algn="ctr" rtl="0" fontAlgn="base">
              <a:spcBef>
                <a:spcPct val="0"/>
              </a:spcBef>
              <a:spcAft>
                <a:spcPct val="0"/>
              </a:spcAft>
              <a:defRPr sz="4400">
                <a:solidFill>
                  <a:schemeClr val="dk1"/>
                </a:solidFill>
                <a:latin typeface="+mn-lt"/>
                <a:ea typeface="+mn-ea"/>
                <a:cs typeface="+mn-cs"/>
              </a:defRPr>
            </a:lvl3pPr>
            <a:lvl4pPr algn="ctr" rtl="0" fontAlgn="base">
              <a:spcBef>
                <a:spcPct val="0"/>
              </a:spcBef>
              <a:spcAft>
                <a:spcPct val="0"/>
              </a:spcAft>
              <a:defRPr sz="4400">
                <a:solidFill>
                  <a:schemeClr val="dk1"/>
                </a:solidFill>
                <a:latin typeface="+mn-lt"/>
                <a:ea typeface="+mn-ea"/>
                <a:cs typeface="+mn-cs"/>
              </a:defRPr>
            </a:lvl4pPr>
            <a:lvl5pPr algn="ctr" rtl="0" fontAlgn="base">
              <a:spcBef>
                <a:spcPct val="0"/>
              </a:spcBef>
              <a:spcAft>
                <a:spcPct val="0"/>
              </a:spcAft>
              <a:defRPr sz="4400">
                <a:solidFill>
                  <a:schemeClr val="dk1"/>
                </a:solidFill>
                <a:latin typeface="+mn-lt"/>
                <a:ea typeface="+mn-ea"/>
                <a:cs typeface="+mn-cs"/>
              </a:defRPr>
            </a:lvl5pPr>
            <a:lvl6pPr marL="457200" algn="ctr" rtl="0" fontAlgn="base">
              <a:spcBef>
                <a:spcPct val="0"/>
              </a:spcBef>
              <a:spcAft>
                <a:spcPct val="0"/>
              </a:spcAft>
              <a:defRPr sz="4400">
                <a:solidFill>
                  <a:schemeClr val="dk1"/>
                </a:solidFill>
                <a:latin typeface="+mn-lt"/>
                <a:ea typeface="+mn-ea"/>
                <a:cs typeface="+mn-cs"/>
              </a:defRPr>
            </a:lvl6pPr>
            <a:lvl7pPr marL="914400" algn="ctr" rtl="0" fontAlgn="base">
              <a:spcBef>
                <a:spcPct val="0"/>
              </a:spcBef>
              <a:spcAft>
                <a:spcPct val="0"/>
              </a:spcAft>
              <a:defRPr sz="4400">
                <a:solidFill>
                  <a:schemeClr val="dk1"/>
                </a:solidFill>
                <a:latin typeface="+mn-lt"/>
                <a:ea typeface="+mn-ea"/>
                <a:cs typeface="+mn-cs"/>
              </a:defRPr>
            </a:lvl7pPr>
            <a:lvl8pPr marL="1371600" algn="ctr" rtl="0" fontAlgn="base">
              <a:spcBef>
                <a:spcPct val="0"/>
              </a:spcBef>
              <a:spcAft>
                <a:spcPct val="0"/>
              </a:spcAft>
              <a:defRPr sz="4400">
                <a:solidFill>
                  <a:schemeClr val="dk1"/>
                </a:solidFill>
                <a:latin typeface="+mn-lt"/>
                <a:ea typeface="+mn-ea"/>
                <a:cs typeface="+mn-cs"/>
              </a:defRPr>
            </a:lvl8pPr>
            <a:lvl9pPr marL="1828800" algn="ctr" rtl="0" fontAlgn="base">
              <a:spcBef>
                <a:spcPct val="0"/>
              </a:spcBef>
              <a:spcAft>
                <a:spcPct val="0"/>
              </a:spcAft>
              <a:defRPr sz="4400">
                <a:solidFill>
                  <a:schemeClr val="dk1"/>
                </a:solidFill>
                <a:latin typeface="+mn-lt"/>
                <a:ea typeface="+mn-ea"/>
                <a:cs typeface="+mn-cs"/>
              </a:defRPr>
            </a:lvl9pPr>
          </a:lstStyle>
          <a:p>
            <a:r>
              <a:rPr lang="en-US" sz="3200" b="1">
                <a:solidFill>
                  <a:srgbClr val="C00000"/>
                </a:solidFill>
                <a:cs typeface="Calibri"/>
              </a:rPr>
              <a:t>PROPOSED METHOD AND ALGORITHMS</a:t>
            </a:r>
            <a:endParaRPr lang="en-US" sz="3200" b="1" dirty="0">
              <a:solidFill>
                <a:srgbClr val="C00000"/>
              </a:solidFill>
              <a:cs typeface="Calibri"/>
            </a:endParaRPr>
          </a:p>
        </p:txBody>
      </p:sp>
      <p:pic>
        <p:nvPicPr>
          <p:cNvPr id="5" name="Picture 4">
            <a:extLst>
              <a:ext uri="{FF2B5EF4-FFF2-40B4-BE49-F238E27FC236}">
                <a16:creationId xmlns:a16="http://schemas.microsoft.com/office/drawing/2014/main" id="{756B6D5C-0CCE-CCD5-B71F-68743E87A1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Content Placeholder 2">
            <a:extLst>
              <a:ext uri="{FF2B5EF4-FFF2-40B4-BE49-F238E27FC236}">
                <a16:creationId xmlns:a16="http://schemas.microsoft.com/office/drawing/2014/main" id="{556A3D6F-F4CE-608F-E3EB-4B3DD5C428BF}"/>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lnSpcReduction="10000"/>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IN" sz="2800" b="1" dirty="0"/>
              <a:t>Emotion Detection Model</a:t>
            </a:r>
          </a:p>
          <a:p>
            <a:r>
              <a:rPr lang="en-IN" sz="2000" b="1" dirty="0"/>
              <a:t>Model Used:</a:t>
            </a:r>
            <a:r>
              <a:rPr lang="en-IN" sz="2000" dirty="0"/>
              <a:t> CNN + </a:t>
            </a:r>
            <a:r>
              <a:rPr lang="en-IN" sz="2000" dirty="0" err="1"/>
              <a:t>BiLSTM</a:t>
            </a:r>
            <a:r>
              <a:rPr lang="en-IN" sz="2000" dirty="0"/>
              <a:t> </a:t>
            </a:r>
          </a:p>
          <a:p>
            <a:r>
              <a:rPr lang="en-IN" sz="2000" b="1" dirty="0"/>
              <a:t>CNN:</a:t>
            </a:r>
            <a:r>
              <a:rPr lang="en-IN" sz="2000" dirty="0"/>
              <a:t> Extracts spatial features from audio signals </a:t>
            </a:r>
          </a:p>
          <a:p>
            <a:r>
              <a:rPr lang="en-IN" sz="2000" b="1" dirty="0" err="1"/>
              <a:t>BiLSTM</a:t>
            </a:r>
            <a:r>
              <a:rPr lang="en-IN" sz="2000" b="1" dirty="0"/>
              <a:t>:</a:t>
            </a:r>
            <a:r>
              <a:rPr lang="en-IN" sz="2000" dirty="0"/>
              <a:t> Captures temporal dependencies in speech </a:t>
            </a:r>
          </a:p>
          <a:p>
            <a:r>
              <a:rPr lang="en-IN" sz="2000" b="1" dirty="0"/>
              <a:t>Architecture:</a:t>
            </a:r>
            <a:endParaRPr lang="en-IN" sz="2000" dirty="0"/>
          </a:p>
          <a:p>
            <a:r>
              <a:rPr lang="en-IN" sz="2000" dirty="0"/>
              <a:t>Conv1D → Batch Normalization → Max Pooling → Dropout → </a:t>
            </a:r>
            <a:r>
              <a:rPr lang="en-IN" sz="2000" dirty="0" err="1"/>
              <a:t>BiLSTM</a:t>
            </a:r>
            <a:r>
              <a:rPr lang="en-IN" sz="2000" dirty="0"/>
              <a:t> → Dense → </a:t>
            </a:r>
            <a:r>
              <a:rPr lang="en-IN" sz="2000" dirty="0" err="1"/>
              <a:t>Softmax</a:t>
            </a:r>
            <a:r>
              <a:rPr lang="en-IN" sz="2000" dirty="0"/>
              <a:t> </a:t>
            </a:r>
          </a:p>
          <a:p>
            <a:r>
              <a:rPr lang="en-IN" sz="2000" b="1" dirty="0"/>
              <a:t>Emotion Classes:</a:t>
            </a:r>
            <a:endParaRPr lang="en-IN" sz="2000" dirty="0"/>
          </a:p>
          <a:p>
            <a:r>
              <a:rPr lang="en-IN" sz="2000" dirty="0"/>
              <a:t>Neutral </a:t>
            </a:r>
          </a:p>
          <a:p>
            <a:r>
              <a:rPr lang="en-IN" sz="2000" dirty="0"/>
              <a:t>Calm </a:t>
            </a:r>
          </a:p>
          <a:p>
            <a:r>
              <a:rPr lang="en-IN" sz="2000" dirty="0"/>
              <a:t>Happy </a:t>
            </a:r>
          </a:p>
          <a:p>
            <a:r>
              <a:rPr lang="en-IN" sz="2000" dirty="0"/>
              <a:t>Sad </a:t>
            </a:r>
          </a:p>
          <a:p>
            <a:r>
              <a:rPr lang="en-IN" sz="2000" dirty="0"/>
              <a:t>Angry </a:t>
            </a:r>
          </a:p>
          <a:p>
            <a:r>
              <a:rPr lang="en-IN" sz="2000" dirty="0"/>
              <a:t>Fearful </a:t>
            </a:r>
          </a:p>
          <a:p>
            <a:r>
              <a:rPr lang="en-IN" sz="2000" dirty="0"/>
              <a:t>Disgust </a:t>
            </a:r>
          </a:p>
          <a:p>
            <a:r>
              <a:rPr lang="en-IN" sz="2000" dirty="0"/>
              <a:t>Surprised </a:t>
            </a:r>
          </a:p>
          <a:p>
            <a:pPr marL="0" indent="0" fontAlgn="auto">
              <a:spcAft>
                <a:spcPts val="0"/>
              </a:spcAft>
              <a:buNone/>
              <a:defRPr/>
            </a:pPr>
            <a:endParaRPr lang="en-US" sz="2800" dirty="0"/>
          </a:p>
        </p:txBody>
      </p:sp>
    </p:spTree>
    <p:extLst>
      <p:ext uri="{BB962C8B-B14F-4D97-AF65-F5344CB8AC3E}">
        <p14:creationId xmlns:p14="http://schemas.microsoft.com/office/powerpoint/2010/main" val="3253616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4" name="Content Placeholder 2">
            <a:extLst>
              <a:ext uri="{FF2B5EF4-FFF2-40B4-BE49-F238E27FC236}">
                <a16:creationId xmlns:a16="http://schemas.microsoft.com/office/drawing/2014/main" id="{1A0F3ED1-6327-C8A1-CBF6-902182B38B92}"/>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IN" sz="2600" b="1" dirty="0"/>
              <a:t>Gender Classification Model</a:t>
            </a:r>
          </a:p>
          <a:p>
            <a:r>
              <a:rPr lang="en-IN" sz="2000" b="1" dirty="0"/>
              <a:t>Algorithm:</a:t>
            </a:r>
            <a:r>
              <a:rPr lang="en-IN" sz="2000" dirty="0"/>
              <a:t> </a:t>
            </a:r>
            <a:r>
              <a:rPr lang="en-IN" sz="2000" dirty="0" err="1"/>
              <a:t>XGBoost</a:t>
            </a:r>
            <a:r>
              <a:rPr lang="en-IN" sz="2000" dirty="0"/>
              <a:t> </a:t>
            </a:r>
          </a:p>
          <a:p>
            <a:r>
              <a:rPr lang="en-IN" sz="2000" b="1" dirty="0"/>
              <a:t>Advantages:</a:t>
            </a:r>
            <a:r>
              <a:rPr lang="en-IN" sz="2000" dirty="0"/>
              <a:t> </a:t>
            </a:r>
          </a:p>
          <a:p>
            <a:pPr lvl="1"/>
            <a:r>
              <a:rPr lang="en-IN" sz="2000" dirty="0"/>
              <a:t>High accuracy </a:t>
            </a:r>
          </a:p>
          <a:p>
            <a:pPr lvl="1"/>
            <a:r>
              <a:rPr lang="en-IN" sz="2000" dirty="0"/>
              <a:t>Efficient for structured data </a:t>
            </a:r>
          </a:p>
          <a:p>
            <a:pPr lvl="1"/>
            <a:r>
              <a:rPr lang="en-IN" sz="2000" dirty="0"/>
              <a:t>Reduces overfitting </a:t>
            </a:r>
          </a:p>
          <a:p>
            <a:r>
              <a:rPr lang="en-IN" sz="2000" b="1" dirty="0"/>
              <a:t>Output:</a:t>
            </a:r>
            <a:r>
              <a:rPr lang="en-IN" sz="2000" dirty="0"/>
              <a:t> Male / Female </a:t>
            </a:r>
          </a:p>
          <a:p>
            <a:pPr marL="0" indent="0">
              <a:buNone/>
            </a:pPr>
            <a:r>
              <a:rPr lang="en-IN" sz="2600" b="1" dirty="0"/>
              <a:t>Age Prediction Model</a:t>
            </a:r>
          </a:p>
          <a:p>
            <a:r>
              <a:rPr lang="en-IN" sz="2000" b="1" dirty="0"/>
              <a:t>Algorithm:</a:t>
            </a:r>
            <a:r>
              <a:rPr lang="en-IN" sz="2000" dirty="0"/>
              <a:t> </a:t>
            </a:r>
            <a:r>
              <a:rPr lang="en-IN" sz="2000" dirty="0" err="1"/>
              <a:t>XGBoost</a:t>
            </a:r>
            <a:r>
              <a:rPr lang="en-IN" sz="2000" dirty="0"/>
              <a:t> (Multi-Class) </a:t>
            </a:r>
          </a:p>
          <a:p>
            <a:r>
              <a:rPr lang="en-IN" sz="2000" b="1" dirty="0"/>
              <a:t>Age Groups:</a:t>
            </a:r>
            <a:r>
              <a:rPr lang="en-IN" sz="2000" dirty="0"/>
              <a:t> </a:t>
            </a:r>
          </a:p>
          <a:p>
            <a:pPr lvl="1"/>
            <a:r>
              <a:rPr lang="en-IN" sz="2000" dirty="0"/>
              <a:t>Young </a:t>
            </a:r>
          </a:p>
          <a:p>
            <a:pPr lvl="1"/>
            <a:r>
              <a:rPr lang="en-IN" sz="2000" dirty="0"/>
              <a:t>Adult </a:t>
            </a:r>
          </a:p>
          <a:p>
            <a:pPr lvl="1"/>
            <a:r>
              <a:rPr lang="en-IN" sz="2000" dirty="0"/>
              <a:t>Senior </a:t>
            </a:r>
          </a:p>
          <a:p>
            <a:pPr marL="0" indent="0" fontAlgn="auto">
              <a:spcAft>
                <a:spcPts val="0"/>
              </a:spcAft>
              <a:buNone/>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Tree>
    <p:extLst>
      <p:ext uri="{BB962C8B-B14F-4D97-AF65-F5344CB8AC3E}">
        <p14:creationId xmlns:p14="http://schemas.microsoft.com/office/powerpoint/2010/main" val="17296609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46E001E-5D34-5EC1-BCF6-87562429D2F3}"/>
              </a:ext>
            </a:extLst>
          </p:cNvPr>
          <p:cNvSpPr>
            <a:spLocks noGrp="1"/>
          </p:cNvSpPr>
          <p:nvPr>
            <p:ph type="ftr" sz="quarter" idx="11"/>
          </p:nvPr>
        </p:nvSpPr>
        <p:spPr/>
        <p:txBody>
          <a:bodyPr/>
          <a:lstStyle/>
          <a:p>
            <a:pPr>
              <a:defRPr/>
            </a:pPr>
            <a:r>
              <a:rPr lang="en-US" dirty="0"/>
              <a:t>DEPARTMENT OF CSE MINI PROJECT REVIEW-1</a:t>
            </a:r>
          </a:p>
        </p:txBody>
      </p:sp>
      <p:sp>
        <p:nvSpPr>
          <p:cNvPr id="3" name="Slide Number Placeholder 2">
            <a:extLst>
              <a:ext uri="{FF2B5EF4-FFF2-40B4-BE49-F238E27FC236}">
                <a16:creationId xmlns:a16="http://schemas.microsoft.com/office/drawing/2014/main" id="{A5AD2F55-8CA5-45E1-5ACC-158D8A3EE6F0}"/>
              </a:ext>
            </a:extLst>
          </p:cNvPr>
          <p:cNvSpPr>
            <a:spLocks noGrp="1"/>
          </p:cNvSpPr>
          <p:nvPr>
            <p:ph type="sldNum" sz="quarter" idx="12"/>
          </p:nvPr>
        </p:nvSpPr>
        <p:spPr/>
        <p:txBody>
          <a:bodyPr/>
          <a:lstStyle/>
          <a:p>
            <a:fld id="{D1610838-7400-411B-B689-2F6C35481D0C}" type="slidenum">
              <a:rPr lang="en-US" altLang="en-US" smtClean="0"/>
              <a:pPr/>
              <a:t>13</a:t>
            </a:fld>
            <a:endParaRPr lang="en-US" altLang="en-US"/>
          </a:p>
        </p:txBody>
      </p:sp>
      <p:sp>
        <p:nvSpPr>
          <p:cNvPr id="4" name="Title 1">
            <a:extLst>
              <a:ext uri="{FF2B5EF4-FFF2-40B4-BE49-F238E27FC236}">
                <a16:creationId xmlns:a16="http://schemas.microsoft.com/office/drawing/2014/main" id="{A9E47BD5-AFB8-BF10-F835-45CC7C5BC330}"/>
              </a:ext>
            </a:extLst>
          </p:cNvPr>
          <p:cNvSpPr txBox="1">
            <a:spLocks/>
          </p:cNvSpPr>
          <p:nvPr/>
        </p:nvSpPr>
        <p:spPr>
          <a:xfrm>
            <a:off x="228600" y="274638"/>
            <a:ext cx="7391400" cy="639762"/>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lvl1pPr algn="ctr" rtl="0" fontAlgn="base">
              <a:spcBef>
                <a:spcPct val="0"/>
              </a:spcBef>
              <a:spcAft>
                <a:spcPct val="0"/>
              </a:spcAft>
              <a:defRPr sz="4400" kern="1200">
                <a:solidFill>
                  <a:schemeClr val="dk1"/>
                </a:solidFill>
                <a:latin typeface="+mn-lt"/>
                <a:ea typeface="+mn-ea"/>
                <a:cs typeface="+mn-cs"/>
              </a:defRPr>
            </a:lvl1pPr>
            <a:lvl2pPr algn="ctr" rtl="0" fontAlgn="base">
              <a:spcBef>
                <a:spcPct val="0"/>
              </a:spcBef>
              <a:spcAft>
                <a:spcPct val="0"/>
              </a:spcAft>
              <a:defRPr sz="4400">
                <a:solidFill>
                  <a:schemeClr val="dk1"/>
                </a:solidFill>
                <a:latin typeface="+mn-lt"/>
                <a:ea typeface="+mn-ea"/>
                <a:cs typeface="+mn-cs"/>
              </a:defRPr>
            </a:lvl2pPr>
            <a:lvl3pPr algn="ctr" rtl="0" fontAlgn="base">
              <a:spcBef>
                <a:spcPct val="0"/>
              </a:spcBef>
              <a:spcAft>
                <a:spcPct val="0"/>
              </a:spcAft>
              <a:defRPr sz="4400">
                <a:solidFill>
                  <a:schemeClr val="dk1"/>
                </a:solidFill>
                <a:latin typeface="+mn-lt"/>
                <a:ea typeface="+mn-ea"/>
                <a:cs typeface="+mn-cs"/>
              </a:defRPr>
            </a:lvl3pPr>
            <a:lvl4pPr algn="ctr" rtl="0" fontAlgn="base">
              <a:spcBef>
                <a:spcPct val="0"/>
              </a:spcBef>
              <a:spcAft>
                <a:spcPct val="0"/>
              </a:spcAft>
              <a:defRPr sz="4400">
                <a:solidFill>
                  <a:schemeClr val="dk1"/>
                </a:solidFill>
                <a:latin typeface="+mn-lt"/>
                <a:ea typeface="+mn-ea"/>
                <a:cs typeface="+mn-cs"/>
              </a:defRPr>
            </a:lvl4pPr>
            <a:lvl5pPr algn="ctr" rtl="0" fontAlgn="base">
              <a:spcBef>
                <a:spcPct val="0"/>
              </a:spcBef>
              <a:spcAft>
                <a:spcPct val="0"/>
              </a:spcAft>
              <a:defRPr sz="4400">
                <a:solidFill>
                  <a:schemeClr val="dk1"/>
                </a:solidFill>
                <a:latin typeface="+mn-lt"/>
                <a:ea typeface="+mn-ea"/>
                <a:cs typeface="+mn-cs"/>
              </a:defRPr>
            </a:lvl5pPr>
            <a:lvl6pPr marL="457200" algn="ctr" rtl="0" fontAlgn="base">
              <a:spcBef>
                <a:spcPct val="0"/>
              </a:spcBef>
              <a:spcAft>
                <a:spcPct val="0"/>
              </a:spcAft>
              <a:defRPr sz="4400">
                <a:solidFill>
                  <a:schemeClr val="dk1"/>
                </a:solidFill>
                <a:latin typeface="+mn-lt"/>
                <a:ea typeface="+mn-ea"/>
                <a:cs typeface="+mn-cs"/>
              </a:defRPr>
            </a:lvl6pPr>
            <a:lvl7pPr marL="914400" algn="ctr" rtl="0" fontAlgn="base">
              <a:spcBef>
                <a:spcPct val="0"/>
              </a:spcBef>
              <a:spcAft>
                <a:spcPct val="0"/>
              </a:spcAft>
              <a:defRPr sz="4400">
                <a:solidFill>
                  <a:schemeClr val="dk1"/>
                </a:solidFill>
                <a:latin typeface="+mn-lt"/>
                <a:ea typeface="+mn-ea"/>
                <a:cs typeface="+mn-cs"/>
              </a:defRPr>
            </a:lvl7pPr>
            <a:lvl8pPr marL="1371600" algn="ctr" rtl="0" fontAlgn="base">
              <a:spcBef>
                <a:spcPct val="0"/>
              </a:spcBef>
              <a:spcAft>
                <a:spcPct val="0"/>
              </a:spcAft>
              <a:defRPr sz="4400">
                <a:solidFill>
                  <a:schemeClr val="dk1"/>
                </a:solidFill>
                <a:latin typeface="+mn-lt"/>
                <a:ea typeface="+mn-ea"/>
                <a:cs typeface="+mn-cs"/>
              </a:defRPr>
            </a:lvl8pPr>
            <a:lvl9pPr marL="1828800" algn="ctr" rtl="0" fontAlgn="base">
              <a:spcBef>
                <a:spcPct val="0"/>
              </a:spcBef>
              <a:spcAft>
                <a:spcPct val="0"/>
              </a:spcAft>
              <a:defRPr sz="4400">
                <a:solidFill>
                  <a:schemeClr val="dk1"/>
                </a:solidFill>
                <a:latin typeface="+mn-lt"/>
                <a:ea typeface="+mn-ea"/>
                <a:cs typeface="+mn-cs"/>
              </a:defRPr>
            </a:lvl9pPr>
          </a:lstStyle>
          <a:p>
            <a:r>
              <a:rPr lang="en-US" sz="3200" b="1">
                <a:solidFill>
                  <a:srgbClr val="C00000"/>
                </a:solidFill>
                <a:cs typeface="Calibri"/>
              </a:rPr>
              <a:t>PROPOSED METHOD AND ALGORITHMS</a:t>
            </a:r>
            <a:endParaRPr lang="en-US" sz="3200" b="1" dirty="0">
              <a:solidFill>
                <a:srgbClr val="C00000"/>
              </a:solidFill>
              <a:cs typeface="Calibri"/>
            </a:endParaRPr>
          </a:p>
        </p:txBody>
      </p:sp>
      <p:pic>
        <p:nvPicPr>
          <p:cNvPr id="5" name="Picture 4">
            <a:extLst>
              <a:ext uri="{FF2B5EF4-FFF2-40B4-BE49-F238E27FC236}">
                <a16:creationId xmlns:a16="http://schemas.microsoft.com/office/drawing/2014/main" id="{C03EFC6F-1621-2B92-CED8-AEB7FC9280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658BAE01-5646-E7F8-0E15-7DD30482ED32}"/>
              </a:ext>
            </a:extLst>
          </p:cNvPr>
          <p:cNvSpPr txBox="1">
            <a:spLocks/>
          </p:cNvSpPr>
          <p:nvPr/>
        </p:nvSpPr>
        <p:spPr bwMode="auto">
          <a:xfrm>
            <a:off x="190500" y="1028245"/>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2200" b="1" dirty="0"/>
              <a:t>Speech-to-Text Conversion</a:t>
            </a:r>
          </a:p>
          <a:p>
            <a:r>
              <a:rPr lang="en-US" sz="2000" b="1" dirty="0"/>
              <a:t>Library Used:</a:t>
            </a:r>
            <a:r>
              <a:rPr lang="en-US" sz="2000" dirty="0"/>
              <a:t> </a:t>
            </a:r>
            <a:r>
              <a:rPr lang="en-US" sz="2000" dirty="0" err="1"/>
              <a:t>SpeechRecognition</a:t>
            </a:r>
            <a:r>
              <a:rPr lang="en-US" sz="2000" dirty="0"/>
              <a:t> </a:t>
            </a:r>
          </a:p>
          <a:p>
            <a:r>
              <a:rPr lang="en-US" sz="2000" b="1" dirty="0"/>
              <a:t>API:</a:t>
            </a:r>
            <a:r>
              <a:rPr lang="en-US" sz="2000" dirty="0"/>
              <a:t> Google Speech Recognition API </a:t>
            </a:r>
          </a:p>
          <a:p>
            <a:r>
              <a:rPr lang="en-US" sz="2000" b="1" dirty="0"/>
              <a:t>Function:</a:t>
            </a:r>
            <a:r>
              <a:rPr lang="en-US" sz="2000" dirty="0"/>
              <a:t> </a:t>
            </a:r>
          </a:p>
          <a:p>
            <a:pPr lvl="1"/>
            <a:r>
              <a:rPr lang="en-US" sz="2000" dirty="0"/>
              <a:t>Converts speech audio into text </a:t>
            </a:r>
          </a:p>
          <a:p>
            <a:pPr lvl="1"/>
            <a:r>
              <a:rPr lang="en-US" sz="2000" dirty="0"/>
              <a:t>Helps in understanding spoken content</a:t>
            </a:r>
          </a:p>
          <a:p>
            <a:pPr marL="0" indent="0" fontAlgn="auto">
              <a:spcAft>
                <a:spcPts val="0"/>
              </a:spcAft>
              <a:buNone/>
              <a:defRPr/>
            </a:pPr>
            <a:endParaRPr lang="en-US" sz="2000" dirty="0"/>
          </a:p>
          <a:p>
            <a:pPr fontAlgn="auto">
              <a:spcAft>
                <a:spcPts val="0"/>
              </a:spcAft>
              <a:buFont typeface="Arial" panose="020B0604020202020204" pitchFamily="34" charset="0"/>
              <a:buNone/>
              <a:defRPr/>
            </a:pPr>
            <a:endParaRPr lang="en-US" sz="2800" dirty="0">
              <a:cs typeface="Calibri"/>
            </a:endParaRPr>
          </a:p>
        </p:txBody>
      </p:sp>
    </p:spTree>
    <p:extLst>
      <p:ext uri="{BB962C8B-B14F-4D97-AF65-F5344CB8AC3E}">
        <p14:creationId xmlns:p14="http://schemas.microsoft.com/office/powerpoint/2010/main" val="2639783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14</a:t>
            </a:fld>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10" name="Content Placeholder 2">
            <a:extLst>
              <a:ext uri="{FF2B5EF4-FFF2-40B4-BE49-F238E27FC236}">
                <a16:creationId xmlns:a16="http://schemas.microsoft.com/office/drawing/2014/main" id="{434DDDF8-F967-DA7A-5F75-BBC4D4B5B669}"/>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pic>
        <p:nvPicPr>
          <p:cNvPr id="12" name="Picture 11">
            <a:extLst>
              <a:ext uri="{FF2B5EF4-FFF2-40B4-BE49-F238E27FC236}">
                <a16:creationId xmlns:a16="http://schemas.microsoft.com/office/drawing/2014/main" id="{A130A1DB-C7BE-5E5D-95AC-3D0535EB5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600200"/>
            <a:ext cx="6968490" cy="3048000"/>
          </a:xfrm>
          <a:prstGeom prst="rect">
            <a:avLst/>
          </a:prstGeom>
        </p:spPr>
      </p:pic>
    </p:spTree>
    <p:extLst>
      <p:ext uri="{BB962C8B-B14F-4D97-AF65-F5344CB8AC3E}">
        <p14:creationId xmlns:p14="http://schemas.microsoft.com/office/powerpoint/2010/main" val="233066220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D065C8-41A2-71D0-9C8B-5CAD7448DF80}"/>
              </a:ext>
            </a:extLst>
          </p:cNvPr>
          <p:cNvSpPr>
            <a:spLocks noGrp="1"/>
          </p:cNvSpPr>
          <p:nvPr>
            <p:ph type="ftr" sz="quarter" idx="11"/>
          </p:nvPr>
        </p:nvSpPr>
        <p:spPr/>
        <p:txBody>
          <a:bodyPr/>
          <a:lstStyle/>
          <a:p>
            <a:pPr>
              <a:defRPr/>
            </a:pPr>
            <a:r>
              <a:rPr lang="en-US"/>
              <a:t>DEPARTMENT OF CSE MINI PROJECT REVIEW-1</a:t>
            </a:r>
          </a:p>
        </p:txBody>
      </p:sp>
      <p:sp>
        <p:nvSpPr>
          <p:cNvPr id="3" name="Slide Number Placeholder 2">
            <a:extLst>
              <a:ext uri="{FF2B5EF4-FFF2-40B4-BE49-F238E27FC236}">
                <a16:creationId xmlns:a16="http://schemas.microsoft.com/office/drawing/2014/main" id="{1A8002CA-B37D-9A33-9149-70A050830FD7}"/>
              </a:ext>
            </a:extLst>
          </p:cNvPr>
          <p:cNvSpPr>
            <a:spLocks noGrp="1"/>
          </p:cNvSpPr>
          <p:nvPr>
            <p:ph type="sldNum" sz="quarter" idx="12"/>
          </p:nvPr>
        </p:nvSpPr>
        <p:spPr/>
        <p:txBody>
          <a:bodyPr/>
          <a:lstStyle/>
          <a:p>
            <a:fld id="{D1610838-7400-411B-B689-2F6C35481D0C}" type="slidenum">
              <a:rPr lang="en-US" altLang="en-US" smtClean="0"/>
              <a:pPr/>
              <a:t>15</a:t>
            </a:fld>
            <a:endParaRPr lang="en-US" altLang="en-US"/>
          </a:p>
        </p:txBody>
      </p:sp>
      <p:sp>
        <p:nvSpPr>
          <p:cNvPr id="4" name="Title 1">
            <a:extLst>
              <a:ext uri="{FF2B5EF4-FFF2-40B4-BE49-F238E27FC236}">
                <a16:creationId xmlns:a16="http://schemas.microsoft.com/office/drawing/2014/main" id="{73C65940-8360-C31F-9470-2E14975DC51F}"/>
              </a:ext>
            </a:extLst>
          </p:cNvPr>
          <p:cNvSpPr txBox="1">
            <a:spLocks/>
          </p:cNvSpPr>
          <p:nvPr/>
        </p:nvSpPr>
        <p:spPr>
          <a:xfrm>
            <a:off x="228600" y="274638"/>
            <a:ext cx="7391400" cy="639762"/>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lvl1pPr algn="ctr" rtl="0" fontAlgn="base">
              <a:spcBef>
                <a:spcPct val="0"/>
              </a:spcBef>
              <a:spcAft>
                <a:spcPct val="0"/>
              </a:spcAft>
              <a:defRPr sz="4400" kern="1200">
                <a:solidFill>
                  <a:schemeClr val="dk1"/>
                </a:solidFill>
                <a:latin typeface="+mn-lt"/>
                <a:ea typeface="+mn-ea"/>
                <a:cs typeface="+mn-cs"/>
              </a:defRPr>
            </a:lvl1pPr>
            <a:lvl2pPr algn="ctr" rtl="0" fontAlgn="base">
              <a:spcBef>
                <a:spcPct val="0"/>
              </a:spcBef>
              <a:spcAft>
                <a:spcPct val="0"/>
              </a:spcAft>
              <a:defRPr sz="4400">
                <a:solidFill>
                  <a:schemeClr val="dk1"/>
                </a:solidFill>
                <a:latin typeface="+mn-lt"/>
                <a:ea typeface="+mn-ea"/>
                <a:cs typeface="+mn-cs"/>
              </a:defRPr>
            </a:lvl2pPr>
            <a:lvl3pPr algn="ctr" rtl="0" fontAlgn="base">
              <a:spcBef>
                <a:spcPct val="0"/>
              </a:spcBef>
              <a:spcAft>
                <a:spcPct val="0"/>
              </a:spcAft>
              <a:defRPr sz="4400">
                <a:solidFill>
                  <a:schemeClr val="dk1"/>
                </a:solidFill>
                <a:latin typeface="+mn-lt"/>
                <a:ea typeface="+mn-ea"/>
                <a:cs typeface="+mn-cs"/>
              </a:defRPr>
            </a:lvl3pPr>
            <a:lvl4pPr algn="ctr" rtl="0" fontAlgn="base">
              <a:spcBef>
                <a:spcPct val="0"/>
              </a:spcBef>
              <a:spcAft>
                <a:spcPct val="0"/>
              </a:spcAft>
              <a:defRPr sz="4400">
                <a:solidFill>
                  <a:schemeClr val="dk1"/>
                </a:solidFill>
                <a:latin typeface="+mn-lt"/>
                <a:ea typeface="+mn-ea"/>
                <a:cs typeface="+mn-cs"/>
              </a:defRPr>
            </a:lvl4pPr>
            <a:lvl5pPr algn="ctr" rtl="0" fontAlgn="base">
              <a:spcBef>
                <a:spcPct val="0"/>
              </a:spcBef>
              <a:spcAft>
                <a:spcPct val="0"/>
              </a:spcAft>
              <a:defRPr sz="4400">
                <a:solidFill>
                  <a:schemeClr val="dk1"/>
                </a:solidFill>
                <a:latin typeface="+mn-lt"/>
                <a:ea typeface="+mn-ea"/>
                <a:cs typeface="+mn-cs"/>
              </a:defRPr>
            </a:lvl5pPr>
            <a:lvl6pPr marL="457200" algn="ctr" rtl="0" fontAlgn="base">
              <a:spcBef>
                <a:spcPct val="0"/>
              </a:spcBef>
              <a:spcAft>
                <a:spcPct val="0"/>
              </a:spcAft>
              <a:defRPr sz="4400">
                <a:solidFill>
                  <a:schemeClr val="dk1"/>
                </a:solidFill>
                <a:latin typeface="+mn-lt"/>
                <a:ea typeface="+mn-ea"/>
                <a:cs typeface="+mn-cs"/>
              </a:defRPr>
            </a:lvl6pPr>
            <a:lvl7pPr marL="914400" algn="ctr" rtl="0" fontAlgn="base">
              <a:spcBef>
                <a:spcPct val="0"/>
              </a:spcBef>
              <a:spcAft>
                <a:spcPct val="0"/>
              </a:spcAft>
              <a:defRPr sz="4400">
                <a:solidFill>
                  <a:schemeClr val="dk1"/>
                </a:solidFill>
                <a:latin typeface="+mn-lt"/>
                <a:ea typeface="+mn-ea"/>
                <a:cs typeface="+mn-cs"/>
              </a:defRPr>
            </a:lvl7pPr>
            <a:lvl8pPr marL="1371600" algn="ctr" rtl="0" fontAlgn="base">
              <a:spcBef>
                <a:spcPct val="0"/>
              </a:spcBef>
              <a:spcAft>
                <a:spcPct val="0"/>
              </a:spcAft>
              <a:defRPr sz="4400">
                <a:solidFill>
                  <a:schemeClr val="dk1"/>
                </a:solidFill>
                <a:latin typeface="+mn-lt"/>
                <a:ea typeface="+mn-ea"/>
                <a:cs typeface="+mn-cs"/>
              </a:defRPr>
            </a:lvl8pPr>
            <a:lvl9pPr marL="1828800" algn="ctr" rtl="0" fontAlgn="base">
              <a:spcBef>
                <a:spcPct val="0"/>
              </a:spcBef>
              <a:spcAft>
                <a:spcPct val="0"/>
              </a:spcAft>
              <a:defRPr sz="4400">
                <a:solidFill>
                  <a:schemeClr val="dk1"/>
                </a:solidFill>
                <a:latin typeface="+mn-lt"/>
                <a:ea typeface="+mn-ea"/>
                <a:cs typeface="+mn-cs"/>
              </a:defRPr>
            </a:lvl9pPr>
          </a:lstStyle>
          <a:p>
            <a:r>
              <a:rPr lang="en-US" sz="3200" b="1" dirty="0">
                <a:solidFill>
                  <a:srgbClr val="C00000"/>
                </a:solidFill>
                <a:cs typeface="Calibri"/>
              </a:rPr>
              <a:t>Results</a:t>
            </a:r>
          </a:p>
        </p:txBody>
      </p:sp>
      <p:pic>
        <p:nvPicPr>
          <p:cNvPr id="5" name="Picture 4">
            <a:extLst>
              <a:ext uri="{FF2B5EF4-FFF2-40B4-BE49-F238E27FC236}">
                <a16:creationId xmlns:a16="http://schemas.microsoft.com/office/drawing/2014/main" id="{BCD872E1-66D6-579E-43DD-48D883DF1A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82FA28AE-BB2C-C44A-684F-66604383BBA5}"/>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pic>
        <p:nvPicPr>
          <p:cNvPr id="8" name="Picture 7">
            <a:extLst>
              <a:ext uri="{FF2B5EF4-FFF2-40B4-BE49-F238E27FC236}">
                <a16:creationId xmlns:a16="http://schemas.microsoft.com/office/drawing/2014/main" id="{7D91E26A-A965-9817-91E7-4CDD24020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96064"/>
            <a:ext cx="7203099" cy="4843463"/>
          </a:xfrm>
          <a:prstGeom prst="rect">
            <a:avLst/>
          </a:prstGeom>
        </p:spPr>
      </p:pic>
    </p:spTree>
    <p:extLst>
      <p:ext uri="{BB962C8B-B14F-4D97-AF65-F5344CB8AC3E}">
        <p14:creationId xmlns:p14="http://schemas.microsoft.com/office/powerpoint/2010/main" val="1461503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F6A04A-FC4A-4E31-2E24-F01E10205A11}"/>
              </a:ext>
            </a:extLst>
          </p:cNvPr>
          <p:cNvSpPr>
            <a:spLocks noGrp="1"/>
          </p:cNvSpPr>
          <p:nvPr>
            <p:ph type="ftr" sz="quarter" idx="11"/>
          </p:nvPr>
        </p:nvSpPr>
        <p:spPr/>
        <p:txBody>
          <a:bodyPr/>
          <a:lstStyle/>
          <a:p>
            <a:pPr>
              <a:defRPr/>
            </a:pPr>
            <a:r>
              <a:rPr lang="en-US"/>
              <a:t>DEPARTMENT OF CSE MINI PROJECT REVIEW-1</a:t>
            </a:r>
          </a:p>
        </p:txBody>
      </p:sp>
      <p:sp>
        <p:nvSpPr>
          <p:cNvPr id="3" name="Slide Number Placeholder 2">
            <a:extLst>
              <a:ext uri="{FF2B5EF4-FFF2-40B4-BE49-F238E27FC236}">
                <a16:creationId xmlns:a16="http://schemas.microsoft.com/office/drawing/2014/main" id="{62E49298-2D55-5A5C-6FF4-9695C495834B}"/>
              </a:ext>
            </a:extLst>
          </p:cNvPr>
          <p:cNvSpPr>
            <a:spLocks noGrp="1"/>
          </p:cNvSpPr>
          <p:nvPr>
            <p:ph type="sldNum" sz="quarter" idx="12"/>
          </p:nvPr>
        </p:nvSpPr>
        <p:spPr/>
        <p:txBody>
          <a:bodyPr/>
          <a:lstStyle/>
          <a:p>
            <a:fld id="{D1610838-7400-411B-B689-2F6C35481D0C}" type="slidenum">
              <a:rPr lang="en-US" altLang="en-US" smtClean="0"/>
              <a:pPr/>
              <a:t>16</a:t>
            </a:fld>
            <a:endParaRPr lang="en-US" altLang="en-US"/>
          </a:p>
        </p:txBody>
      </p:sp>
      <p:sp>
        <p:nvSpPr>
          <p:cNvPr id="4" name="Title 1">
            <a:extLst>
              <a:ext uri="{FF2B5EF4-FFF2-40B4-BE49-F238E27FC236}">
                <a16:creationId xmlns:a16="http://schemas.microsoft.com/office/drawing/2014/main" id="{932AC0C9-8166-ED77-A2BB-B4D38232B0DF}"/>
              </a:ext>
            </a:extLst>
          </p:cNvPr>
          <p:cNvSpPr txBox="1">
            <a:spLocks/>
          </p:cNvSpPr>
          <p:nvPr/>
        </p:nvSpPr>
        <p:spPr>
          <a:xfrm>
            <a:off x="228600" y="274638"/>
            <a:ext cx="7391400" cy="639762"/>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lvl1pPr algn="ctr" rtl="0" fontAlgn="base">
              <a:spcBef>
                <a:spcPct val="0"/>
              </a:spcBef>
              <a:spcAft>
                <a:spcPct val="0"/>
              </a:spcAft>
              <a:defRPr sz="4400" kern="1200">
                <a:solidFill>
                  <a:schemeClr val="dk1"/>
                </a:solidFill>
                <a:latin typeface="+mn-lt"/>
                <a:ea typeface="+mn-ea"/>
                <a:cs typeface="+mn-cs"/>
              </a:defRPr>
            </a:lvl1pPr>
            <a:lvl2pPr algn="ctr" rtl="0" fontAlgn="base">
              <a:spcBef>
                <a:spcPct val="0"/>
              </a:spcBef>
              <a:spcAft>
                <a:spcPct val="0"/>
              </a:spcAft>
              <a:defRPr sz="4400">
                <a:solidFill>
                  <a:schemeClr val="dk1"/>
                </a:solidFill>
                <a:latin typeface="+mn-lt"/>
                <a:ea typeface="+mn-ea"/>
                <a:cs typeface="+mn-cs"/>
              </a:defRPr>
            </a:lvl2pPr>
            <a:lvl3pPr algn="ctr" rtl="0" fontAlgn="base">
              <a:spcBef>
                <a:spcPct val="0"/>
              </a:spcBef>
              <a:spcAft>
                <a:spcPct val="0"/>
              </a:spcAft>
              <a:defRPr sz="4400">
                <a:solidFill>
                  <a:schemeClr val="dk1"/>
                </a:solidFill>
                <a:latin typeface="+mn-lt"/>
                <a:ea typeface="+mn-ea"/>
                <a:cs typeface="+mn-cs"/>
              </a:defRPr>
            </a:lvl3pPr>
            <a:lvl4pPr algn="ctr" rtl="0" fontAlgn="base">
              <a:spcBef>
                <a:spcPct val="0"/>
              </a:spcBef>
              <a:spcAft>
                <a:spcPct val="0"/>
              </a:spcAft>
              <a:defRPr sz="4400">
                <a:solidFill>
                  <a:schemeClr val="dk1"/>
                </a:solidFill>
                <a:latin typeface="+mn-lt"/>
                <a:ea typeface="+mn-ea"/>
                <a:cs typeface="+mn-cs"/>
              </a:defRPr>
            </a:lvl4pPr>
            <a:lvl5pPr algn="ctr" rtl="0" fontAlgn="base">
              <a:spcBef>
                <a:spcPct val="0"/>
              </a:spcBef>
              <a:spcAft>
                <a:spcPct val="0"/>
              </a:spcAft>
              <a:defRPr sz="4400">
                <a:solidFill>
                  <a:schemeClr val="dk1"/>
                </a:solidFill>
                <a:latin typeface="+mn-lt"/>
                <a:ea typeface="+mn-ea"/>
                <a:cs typeface="+mn-cs"/>
              </a:defRPr>
            </a:lvl5pPr>
            <a:lvl6pPr marL="457200" algn="ctr" rtl="0" fontAlgn="base">
              <a:spcBef>
                <a:spcPct val="0"/>
              </a:spcBef>
              <a:spcAft>
                <a:spcPct val="0"/>
              </a:spcAft>
              <a:defRPr sz="4400">
                <a:solidFill>
                  <a:schemeClr val="dk1"/>
                </a:solidFill>
                <a:latin typeface="+mn-lt"/>
                <a:ea typeface="+mn-ea"/>
                <a:cs typeface="+mn-cs"/>
              </a:defRPr>
            </a:lvl6pPr>
            <a:lvl7pPr marL="914400" algn="ctr" rtl="0" fontAlgn="base">
              <a:spcBef>
                <a:spcPct val="0"/>
              </a:spcBef>
              <a:spcAft>
                <a:spcPct val="0"/>
              </a:spcAft>
              <a:defRPr sz="4400">
                <a:solidFill>
                  <a:schemeClr val="dk1"/>
                </a:solidFill>
                <a:latin typeface="+mn-lt"/>
                <a:ea typeface="+mn-ea"/>
                <a:cs typeface="+mn-cs"/>
              </a:defRPr>
            </a:lvl7pPr>
            <a:lvl8pPr marL="1371600" algn="ctr" rtl="0" fontAlgn="base">
              <a:spcBef>
                <a:spcPct val="0"/>
              </a:spcBef>
              <a:spcAft>
                <a:spcPct val="0"/>
              </a:spcAft>
              <a:defRPr sz="4400">
                <a:solidFill>
                  <a:schemeClr val="dk1"/>
                </a:solidFill>
                <a:latin typeface="+mn-lt"/>
                <a:ea typeface="+mn-ea"/>
                <a:cs typeface="+mn-cs"/>
              </a:defRPr>
            </a:lvl8pPr>
            <a:lvl9pPr marL="1828800" algn="ctr" rtl="0" fontAlgn="base">
              <a:spcBef>
                <a:spcPct val="0"/>
              </a:spcBef>
              <a:spcAft>
                <a:spcPct val="0"/>
              </a:spcAft>
              <a:defRPr sz="4400">
                <a:solidFill>
                  <a:schemeClr val="dk1"/>
                </a:solidFill>
                <a:latin typeface="+mn-lt"/>
                <a:ea typeface="+mn-ea"/>
                <a:cs typeface="+mn-cs"/>
              </a:defRPr>
            </a:lvl9pPr>
          </a:lstStyle>
          <a:p>
            <a:r>
              <a:rPr lang="en-US" sz="3200" b="1" dirty="0">
                <a:solidFill>
                  <a:srgbClr val="C00000"/>
                </a:solidFill>
                <a:cs typeface="Calibri"/>
              </a:rPr>
              <a:t>Results Analysis</a:t>
            </a:r>
          </a:p>
        </p:txBody>
      </p:sp>
      <p:pic>
        <p:nvPicPr>
          <p:cNvPr id="5" name="Picture 4">
            <a:extLst>
              <a:ext uri="{FF2B5EF4-FFF2-40B4-BE49-F238E27FC236}">
                <a16:creationId xmlns:a16="http://schemas.microsoft.com/office/drawing/2014/main" id="{74EEFF57-FD82-8A4E-F59B-6DF7D011F0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38A31B76-EDC3-4958-C559-BF8F0A48542D}"/>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2200" b="1" dirty="0"/>
              <a:t>Accuracy Comparison of Proposed System</a:t>
            </a:r>
          </a:p>
          <a:p>
            <a:r>
              <a:rPr lang="en-US" sz="2000" dirty="0"/>
              <a:t>The graph shows the performance of different system modules </a:t>
            </a:r>
          </a:p>
          <a:p>
            <a:r>
              <a:rPr lang="en-US" sz="2000" b="1" dirty="0"/>
              <a:t>Emotion Detection:</a:t>
            </a:r>
            <a:r>
              <a:rPr lang="en-US" sz="2000" dirty="0"/>
              <a:t> ~72% accuracy </a:t>
            </a:r>
          </a:p>
          <a:p>
            <a:r>
              <a:rPr lang="en-US" sz="2000" b="1" dirty="0"/>
              <a:t>Gender Detection:</a:t>
            </a:r>
            <a:r>
              <a:rPr lang="en-US" sz="2000" dirty="0"/>
              <a:t> ~98% accuracy </a:t>
            </a:r>
            <a:r>
              <a:rPr lang="en-US" sz="2000" i="1" dirty="0"/>
              <a:t>(highest performance)</a:t>
            </a:r>
            <a:r>
              <a:rPr lang="en-US" sz="2000" dirty="0"/>
              <a:t> </a:t>
            </a:r>
          </a:p>
          <a:p>
            <a:r>
              <a:rPr lang="en-US" sz="2000" b="1" dirty="0"/>
              <a:t>Age Prediction:</a:t>
            </a:r>
            <a:r>
              <a:rPr lang="en-US" sz="2000" dirty="0"/>
              <a:t> ~87% accuracy </a:t>
            </a:r>
          </a:p>
          <a:p>
            <a:r>
              <a:rPr lang="en-US" sz="2000" b="1" dirty="0"/>
              <a:t>Overall System Accuracy:</a:t>
            </a:r>
            <a:r>
              <a:rPr lang="en-US" sz="2000" dirty="0"/>
              <a:t> ~86% </a:t>
            </a:r>
          </a:p>
          <a:p>
            <a:pPr marL="0" indent="0" fontAlgn="auto">
              <a:spcAft>
                <a:spcPts val="0"/>
              </a:spcAft>
              <a:buNone/>
              <a:defRPr/>
            </a:pPr>
            <a:endParaRPr lang="en-US" sz="2000" dirty="0"/>
          </a:p>
          <a:p>
            <a:pPr marL="0" indent="0">
              <a:buNone/>
            </a:pPr>
            <a:r>
              <a:rPr lang="en-US" sz="2400" b="1" dirty="0"/>
              <a:t>Key Observations</a:t>
            </a:r>
          </a:p>
          <a:p>
            <a:r>
              <a:rPr lang="en-US" sz="2000" dirty="0"/>
              <a:t>Gender detection performs best due to </a:t>
            </a:r>
            <a:r>
              <a:rPr lang="en-US" sz="2000" b="1" dirty="0"/>
              <a:t>distinct voice features (pitch, frequency)</a:t>
            </a:r>
            <a:r>
              <a:rPr lang="en-US" sz="2000" dirty="0"/>
              <a:t> </a:t>
            </a:r>
          </a:p>
          <a:p>
            <a:r>
              <a:rPr lang="en-US" sz="2000" dirty="0"/>
              <a:t>Age prediction shows </a:t>
            </a:r>
            <a:r>
              <a:rPr lang="en-US" sz="2000" b="1" dirty="0"/>
              <a:t>good accuracy but slightly lower</a:t>
            </a:r>
            <a:r>
              <a:rPr lang="en-US" sz="2000" dirty="0"/>
              <a:t> due to voice variability </a:t>
            </a:r>
          </a:p>
          <a:p>
            <a:r>
              <a:rPr lang="en-US" sz="2000" dirty="0"/>
              <a:t>Emotion detection has </a:t>
            </a:r>
            <a:r>
              <a:rPr lang="en-US" sz="2000" b="1" dirty="0"/>
              <a:t>moderate accuracy</a:t>
            </a:r>
            <a:r>
              <a:rPr lang="en-US" sz="2000" dirty="0"/>
              <a:t> because emotions can be similar </a:t>
            </a:r>
          </a:p>
          <a:p>
            <a:r>
              <a:rPr lang="en-US" sz="2000" dirty="0"/>
              <a:t>Overall system performance is </a:t>
            </a:r>
            <a:r>
              <a:rPr lang="en-US" sz="2000" b="1" dirty="0"/>
              <a:t>high and reliable</a:t>
            </a:r>
            <a:r>
              <a:rPr lang="en-US" sz="2000" dirty="0"/>
              <a:t> </a:t>
            </a:r>
          </a:p>
          <a:p>
            <a:pPr fontAlgn="auto">
              <a:spcAft>
                <a:spcPts val="0"/>
              </a:spcAft>
              <a:buFont typeface="Arial" panose="020B0604020202020204" pitchFamily="34" charset="0"/>
              <a:buNone/>
              <a:defRPr/>
            </a:pPr>
            <a:endParaRPr lang="en-US" sz="2800" dirty="0">
              <a:cs typeface="Calibri"/>
            </a:endParaRPr>
          </a:p>
        </p:txBody>
      </p:sp>
    </p:spTree>
    <p:extLst>
      <p:ext uri="{BB962C8B-B14F-4D97-AF65-F5344CB8AC3E}">
        <p14:creationId xmlns:p14="http://schemas.microsoft.com/office/powerpoint/2010/main" val="3561289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17</a:t>
            </a:fld>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6" name="Content Placeholder 2">
            <a:extLst>
              <a:ext uri="{FF2B5EF4-FFF2-40B4-BE49-F238E27FC236}">
                <a16:creationId xmlns:a16="http://schemas.microsoft.com/office/drawing/2014/main" id="{806B5DD1-B168-91DB-3C2C-CFDCBE456C73}"/>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endParaRPr lang="en-US" sz="2000" dirty="0"/>
          </a:p>
          <a:p>
            <a:pPr marL="0" indent="0" fontAlgn="auto">
              <a:spcAft>
                <a:spcPts val="0"/>
              </a:spcAft>
              <a:buNone/>
              <a:defRPr/>
            </a:pPr>
            <a:r>
              <a:rPr lang="en-US" sz="2000" dirty="0"/>
              <a:t>This project successfully developed an intelligent speech analysis system capable of detecting emotion, gender, and age from speech signals while converting speech into text. By combining deep learning models (CNN + </a:t>
            </a:r>
            <a:r>
              <a:rPr lang="en-US" sz="2000" dirty="0" err="1"/>
              <a:t>BiLSTM</a:t>
            </a:r>
            <a:r>
              <a:rPr lang="en-US" sz="2000" dirty="0"/>
              <a:t>) and machine learning algorithms (</a:t>
            </a:r>
            <a:r>
              <a:rPr lang="en-US" sz="2000" dirty="0" err="1"/>
              <a:t>XGBoost</a:t>
            </a:r>
            <a:r>
              <a:rPr lang="en-US" sz="2000" dirty="0"/>
              <a:t>), the system achieves high accuracy in speech classification tasks. The proposed system demonstrates the potential of speech processing techniques for real-world applications such as human-computer interaction, emotion-aware AI systems, and smart voice assistants.</a:t>
            </a:r>
          </a:p>
          <a:p>
            <a:pPr marL="0" indent="0" fontAlgn="auto">
              <a:spcAft>
                <a:spcPts val="0"/>
              </a:spcAft>
              <a:buNone/>
              <a:defRPr/>
            </a:pPr>
            <a:endParaRPr lang="en-US" sz="2000" dirty="0"/>
          </a:p>
          <a:p>
            <a:pPr marL="0" indent="0">
              <a:buNone/>
            </a:pPr>
            <a:r>
              <a:rPr lang="en-US" sz="2200" b="1" dirty="0"/>
              <a:t>Model Performance</a:t>
            </a:r>
          </a:p>
          <a:p>
            <a:r>
              <a:rPr lang="en-US" sz="2000" dirty="0"/>
              <a:t>Uses </a:t>
            </a:r>
            <a:r>
              <a:rPr lang="en-US" sz="2000" b="1" dirty="0"/>
              <a:t>CNN + </a:t>
            </a:r>
            <a:r>
              <a:rPr lang="en-US" sz="2000" b="1" dirty="0" err="1"/>
              <a:t>BiLSTM</a:t>
            </a:r>
            <a:r>
              <a:rPr lang="en-US" sz="2000" dirty="0"/>
              <a:t> for emotion detection </a:t>
            </a:r>
          </a:p>
          <a:p>
            <a:r>
              <a:rPr lang="en-US" sz="2000" dirty="0"/>
              <a:t>Uses </a:t>
            </a:r>
            <a:r>
              <a:rPr lang="en-US" sz="2000" b="1" dirty="0" err="1"/>
              <a:t>XGBoost</a:t>
            </a:r>
            <a:r>
              <a:rPr lang="en-US" sz="2000" dirty="0"/>
              <a:t> for gender and age prediction </a:t>
            </a:r>
          </a:p>
          <a:p>
            <a:r>
              <a:rPr lang="en-US" sz="2000" dirty="0"/>
              <a:t>Achieves </a:t>
            </a:r>
            <a:r>
              <a:rPr lang="en-US" sz="2000" b="1" dirty="0"/>
              <a:t>high accuracy in classification tasks</a:t>
            </a:r>
            <a:r>
              <a:rPr lang="en-US" sz="2000" dirty="0"/>
              <a:t> </a:t>
            </a:r>
          </a:p>
          <a:p>
            <a:pPr fontAlgn="auto">
              <a:spcAft>
                <a:spcPts val="0"/>
              </a:spcAft>
              <a:buFont typeface="Arial" panose="020B0604020202020204" pitchFamily="34" charset="0"/>
              <a:buNone/>
              <a:defRPr/>
            </a:pPr>
            <a:endParaRPr lang="en-US" sz="2800" dirty="0">
              <a:cs typeface="Calibri"/>
            </a:endParaRPr>
          </a:p>
        </p:txBody>
      </p:sp>
    </p:spTree>
    <p:extLst>
      <p:ext uri="{BB962C8B-B14F-4D97-AF65-F5344CB8AC3E}">
        <p14:creationId xmlns:p14="http://schemas.microsoft.com/office/powerpoint/2010/main" val="344569294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18</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6"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2763</TotalTime>
  <Words>1139</Words>
  <Application>Microsoft Office PowerPoint</Application>
  <PresentationFormat>On-screen Show (4:3)</PresentationFormat>
  <Paragraphs>250</Paragraphs>
  <Slides>18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Arial,Sans-Serif</vt:lpstr>
      <vt:lpstr>Calibri</vt:lpstr>
      <vt:lpstr>Office Theme</vt:lpstr>
      <vt:lpstr>    DEPARTMENT OF COMPUTER SCIENCE &amp; ENGINEERING  </vt:lpstr>
      <vt:lpstr>Mini Project Review-2 Outlines</vt:lpstr>
      <vt:lpstr>Main idea of the Project</vt:lpstr>
      <vt:lpstr>Existing System Vs Proposed </vt:lpstr>
      <vt:lpstr>Proposed Project Objectives</vt:lpstr>
      <vt:lpstr>Proposed Project Outcomes</vt:lpstr>
      <vt:lpstr>Software and Hardware Requirements</vt:lpstr>
      <vt:lpstr>Process Model</vt:lpstr>
      <vt:lpstr>Architectural Diagram</vt:lpstr>
      <vt:lpstr>PROPOSED METHOD AND ALGORITHMS</vt:lpstr>
      <vt:lpstr>PowerPoint Presentation</vt:lpstr>
      <vt:lpstr>PROPOSED METHOD AND ALGORITHMS</vt:lpstr>
      <vt:lpstr>PowerPoint Presentation</vt:lpstr>
      <vt:lpstr>Results</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dhudukala thapaswini</cp:lastModifiedBy>
  <cp:revision>527</cp:revision>
  <dcterms:created xsi:type="dcterms:W3CDTF">2006-08-16T00:00:00Z</dcterms:created>
  <dcterms:modified xsi:type="dcterms:W3CDTF">2026-04-01T09:17:56Z</dcterms:modified>
</cp:coreProperties>
</file>